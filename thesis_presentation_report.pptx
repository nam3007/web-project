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84BDC32-7E65-4B55-88B0-8B75AEB0A0A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1: Title &amp; Introduction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Good morning, respected committee members and advisor. Today, I am proud to present my graduation thesis project: "Modern Full-Stack Restaurant Management System: Architecture, Multi-Role Operational Workflows, and Implementation".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project delivers an end-to-end digital transformation platform for contemporary food service establishments, unifying customer dine-in and delivery ordering, digital kitchen coordination, logistical dispatch, and executive backoffice intelligence on top of a modern, decoupled web architecture.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2: Presentation Agenda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Our presentation today is organized into six core sections: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First, we address the industry problem statement and project motivation.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Second, we examine the system architecture and multi-role interaction model.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Third, we review the technology stack justification across Frontend, Backend, and Database tiers.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Fourth, we delve into core functional modules including KDS and QR ordering.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Fifth, we discuss architectural limitations and future engineering roadmap.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Finally, we summarize the main research contributions and welcome questions.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3: Section 1 Anchor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will begin with Section 1: Introduction and Problem Statement, looking closely at the operational challenges faced by traditional restaurant operations and why a unified full-stack solution is essential.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4: Problem Statement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dining industry operates under intense pressure. As detailed on this slide, traditional establishments suffer from three fatal friction points: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 Manual paper-based workflows that generate order loss, kitchen confusion, and billing mistakes.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 Fragmented systems where disparate delivery tablets and standalone registers fail to communicate, causing inventory blind spots.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 Rapidly evolving post-pandemic customer expectations demanding contactless QR dining, live delivery tracking, and transparent progress updates.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Our research addresses this core challenge: delivering a unified platform that maintains data integrity and operational agility across all roles.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5: Project Objectives &amp; Scope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address these challenges, we established four clear engineering objectives: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 Building a unified multi-role platform that seamlessly coordinates all 5 actors under strict RBAC security.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 Deploying a real-time digital Kitchen Display System that enforces a predictable order state progression.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 Ensuring transaction integrity and concurrency safety through an ACID-compliant decoupled architecture.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 Providing real-time operational intelligence, automated discount engines, and table reservation scheduling.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6: Section 2 Anchor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Next, we examine Section 2: System Design and Overview, where we inspect the structural blueprints, design patterns, and operational data flows.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7: Layered Architecture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slide presents our decoupled 4-tier architecture: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 At the top is the Presentation Tier: a modern React 19 Single Page Application with TanStack Query and Axios.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 Below that sits the Controller Tier: 14 modular FastAPI routers validating HTTP inputs using Pydantic DTOs and verifying JWT tokens.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 In the middle is the Service Tier: 16 isolated business logic services that enforce domain rules such as order state transitions and voucher eligibility.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 At the base is the Persistence Tier: 15 SQLAlchemy repositories implementing Unit-of-Work patterns to interact with PostgreSQL via ACID transactions.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clean separation ensures high testability, modularity, and maintainability.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8: Multi-Role Actor Ecosystem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Our system bridges five distinct operational roles, each equipped with dedicated views and permissions: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Customers browse digital menus, order via QR code, and track deliveries.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Waiters monitor floor tables and assist dine-in guests.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Chefs operate the Kitchen Display System (KDS), tracking tickets from Pending to Cooking to Ready.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Delivery Couriers navigate outbound deliveries and log proof-of-delivery.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Store Managers access full executive analytics, staff scheduling, menu updates, and promotional coupon management.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9: Order Pipeline &amp; Transaction Flow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Here we trace the complete order lifecycle through five sequential stages: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 Intake: The customer scans a table QR code or checks out online; Pydantic ensures schema validity.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 Payment: The discount engine validates coupons, and payment records are created.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 KDS Cooking: The ticket arrives on the kitchen display; the chef marks it as COOKING.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 Fulfillment: Waiters serve the table or couriers receive delivery routing details.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 Settlement: The order reaches DELIVERED status, inventory is updated, and metrics reflect in the manager's dashboard.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Every step is wrapped in atomic database transactions to prevent partial writes.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10: Section 3 Anchor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now proceed to Section 3: Technology Stack Justification, reviewing the technical reasons behind choosing React 19, FastAPI, PostgreSQL, and their supporting toolchains.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11: Front-end Engineering Stack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 the frontend, we assembled a cohesive modern toolchain: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React 19.2 and Vite 7.2 deliver unmatched developer velocity and efficient DOM reconciliation.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TanStack Query v5 revolutionizes server-state caching, eliminating hundreds of lines of fragile Redux code while keeping orders synchronized.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Tailwind CSS v4 provides atomic styling tokens that compile ahead-of-time with zero runtime overhead, adapting smoothly from mobile courier screens to kitchen displays.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React Router DOM v7 and Axios enforce route guards and seamless JWT bearer token injection.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12: Back-end Engineering Stack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 the backend, our choices prioritize throughput, safety, and developer clarity: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FastAPI and Uvicorn provide non-blocking asynchronous I/O with native OpenAPI documentation.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Pydantic v2 leverages its compiled Rust core to validate request boundaries with negligible latency.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SQLAlchemy 2.0 powers our repository pattern, guaranteeing that complex multi-table inserts execute inside isolated database transactions.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python-jose and bcrypt provide stateless, cryptographically secure JWT authentication and password hashing according to industry standards.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13: Database Design &amp; Relational Persistence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Our persistence tier relies on PostgreSQL: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17 fully normalized relational entities in 3rd Normal Form model everything from user identity, catalog items, and order items to discount vouchers and table reservations.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ACID compliance guarantees that order creation, inventory decrements, and billing records commit atomically or roll back safely.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Targeted B-Tree indexing and connection pool tuning ensure that KDS queues and executive reports load in milliseconds even under high traffic.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14: Section 4 Anchor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now reach Section 4: Core Functions and Workflows, where we demonstrate how the system performs in real-world restaurant operations.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15: Customer Journey &amp; Ordering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Here we highlight the customer-facing functionality: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The dynamic digital menu offers instant search, category filtering, and allergen alerts.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Our QR code table system dynamically maps web visitors to physical table numbers without requiring any native app download.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Persistent carts retain customer selections and itemized kitchen instructions across sessions.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Live progress bars provide full order visibility, and verified post-delivery reviews supply valuable feedback.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16: Kitchen Operations &amp; Management Backoffice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Operations and backoffice capabilities form the backbone of the system: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The Kitchen Display System replaces thermal printers with a live, color-coded Kanban board that tracks prep times.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The reservation engine enforces table capacity checks to eliminate double-booking errors.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The discount engine validates minimum order thresholds, voucher expiry, and usage limits.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The manager dashboard aggregates sales velocity, top-selling dishes, and employee shift rosters to inform executive decisions.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17: Section 5 Anchor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Section 5: Limitations and Future Work, we evaluate the current architectural trade-offs and outline our technical enhancement roadmap.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18: Limitations &amp; Future Roadmap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Every engineering system involves conscious trade-offs: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Currently, our system uses React Query polling, a single-instance PostgreSQL database, and manual courier assignments—well-suited for a single high-volume location.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• For our future roadmap, we plan to transition to full-duplex WebSockets for zero-latency kitchen event pushes, deploy AI-driven collaborative filtering for personalized dish recommendations, integrate geospatial clustering for delivery logistics, and connect smart kitchen IoT appliances directly into ticket state machines.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19: Section 6 Anchor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now arrive at our final section: Section 6: Conclusion and Final Remarks, summarizing the core findings and scientific contributions of this thesis.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 20: Summary &amp; Conclusion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summary, this graduation thesis successfully developed and validated a production-grade Restaurant Management System: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 It unifies five operational roles onto a single responsive platform, eliminating communication delays and replacing manual paper tickets with a synchronized digital workflow.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 It demonstrates the technical excellence of coupling React 19, FastAPI, and PostgreSQL, achieving both high concurrency and rock-solid ACID data integrity.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 Its modular 3-tier architecture guarantees maintainability, testability, and clear paths for future AI and WebSocket enhancements.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Thank you very much, committee members and advisor, for your guidance. I am now ready to answer any questions.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esis_presenta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C65C36-5466-44AD-9876-D014F94C5C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831069-BCC5-45CC-B998-BF991AA8A07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-lines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12" name="Line 2"/>
            <p:cNvSpPr/>
            <p:nvPr/>
          </p:nvSpPr>
          <p:spPr>
            <a:xfrm>
              <a:off x="762120" y="0"/>
              <a:ext cx="9000" cy="6857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Line 3"/>
            <p:cNvSpPr/>
            <p:nvPr/>
          </p:nvSpPr>
          <p:spPr>
            <a:xfrm>
              <a:off x="11430000" y="0"/>
              <a:ext cx="9000" cy="6857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Line 4"/>
            <p:cNvSpPr/>
            <p:nvPr/>
          </p:nvSpPr>
          <p:spPr>
            <a:xfrm>
              <a:off x="0" y="5905440"/>
              <a:ext cx="12191760" cy="900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" name="accent-geometry"/>
          <p:cNvGrpSpPr/>
          <p:nvPr/>
        </p:nvGrpSpPr>
        <p:grpSpPr>
          <a:xfrm>
            <a:off x="762120" y="571680"/>
            <a:ext cx="11239200" cy="3142440"/>
            <a:chOff x="762120" y="571680"/>
            <a:chExt cx="11239200" cy="3142440"/>
          </a:xfrm>
        </p:grpSpPr>
        <p:sp>
          <p:nvSpPr>
            <p:cNvPr id="16" name="Rectangle 6"/>
            <p:cNvSpPr/>
            <p:nvPr/>
          </p:nvSpPr>
          <p:spPr>
            <a:xfrm>
              <a:off x="762120" y="1523880"/>
              <a:ext cx="75960" cy="21902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Ellipse 7"/>
            <p:cNvSpPr/>
            <p:nvPr/>
          </p:nvSpPr>
          <p:spPr>
            <a:xfrm>
              <a:off x="8953560" y="571680"/>
              <a:ext cx="3047760" cy="3047760"/>
            </a:xfrm>
            <a:prstGeom prst="ellipse">
              <a:avLst/>
            </a:prstGeom>
            <a:solidFill>
              <a:srgbClr val="1e293b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Ellipse 8"/>
            <p:cNvSpPr/>
            <p:nvPr/>
          </p:nvSpPr>
          <p:spPr>
            <a:xfrm>
              <a:off x="9524880" y="1143000"/>
              <a:ext cx="1904760" cy="1904760"/>
            </a:xfrm>
            <a:prstGeom prst="ellipse">
              <a:avLst/>
            </a:prstGeom>
            <a:solidFill>
              <a:srgbClr val="0f172a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" name="top-badge"/>
          <p:cNvGrpSpPr/>
          <p:nvPr/>
        </p:nvGrpSpPr>
        <p:grpSpPr>
          <a:xfrm>
            <a:off x="522720" y="1476360"/>
            <a:ext cx="5145120" cy="304560"/>
            <a:chOff x="522720" y="1476360"/>
            <a:chExt cx="5145120" cy="304560"/>
          </a:xfrm>
        </p:grpSpPr>
        <p:sp>
          <p:nvSpPr>
            <p:cNvPr id="20" name="Rectangle 10"/>
            <p:cNvSpPr/>
            <p:nvPr/>
          </p:nvSpPr>
          <p:spPr>
            <a:xfrm>
              <a:off x="1143000" y="1476360"/>
              <a:ext cx="3904920" cy="30456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 w="11430">
              <a:solidFill>
                <a:srgbClr val="d9770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TextBox 11"/>
            <p:cNvSpPr/>
            <p:nvPr/>
          </p:nvSpPr>
          <p:spPr>
            <a:xfrm>
              <a:off x="522720" y="1571040"/>
              <a:ext cx="51451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80" spc="74" strike="noStrike" u="none">
                  <a:solidFill>
                    <a:srgbClr val="fbbf24"/>
                  </a:solidFill>
                  <a:effectLst/>
                  <a:uFillTx/>
                  <a:latin typeface="Times New Roman"/>
                  <a:ea typeface="Times New Roman"/>
                </a:rPr>
                <a:t>GRADUATION THESIS DEFENSE • COMPUTER SCIENCE</a:t>
              </a:r>
              <a:endParaRPr b="0" lang="en-US" sz="98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" name="main-title"/>
          <p:cNvGrpSpPr/>
          <p:nvPr/>
        </p:nvGrpSpPr>
        <p:grpSpPr>
          <a:xfrm>
            <a:off x="1126080" y="1977480"/>
            <a:ext cx="6424920" cy="1535040"/>
            <a:chOff x="1126080" y="1977480"/>
            <a:chExt cx="6424920" cy="1535040"/>
          </a:xfrm>
        </p:grpSpPr>
        <p:sp>
          <p:nvSpPr>
            <p:cNvPr id="23" name="TextBox 13"/>
            <p:cNvSpPr/>
            <p:nvPr/>
          </p:nvSpPr>
          <p:spPr>
            <a:xfrm>
              <a:off x="1126080" y="1977480"/>
              <a:ext cx="642492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33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Modern Full-Stack Restaurant</a:t>
              </a:r>
              <a:endPara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TextBox 14"/>
            <p:cNvSpPr/>
            <p:nvPr/>
          </p:nvSpPr>
          <p:spPr>
            <a:xfrm>
              <a:off x="1126080" y="2501280"/>
              <a:ext cx="432972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33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Management System</a:t>
              </a:r>
              <a:endPara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TextBox 15"/>
            <p:cNvSpPr/>
            <p:nvPr/>
          </p:nvSpPr>
          <p:spPr>
            <a:xfrm>
              <a:off x="1135440" y="3219480"/>
              <a:ext cx="596916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50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Architecture, Multi-Role Operational Workflows &amp; Implementation</a:t>
              </a:r>
              <a:endPara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" name="tech-pills"/>
          <p:cNvGrpSpPr/>
          <p:nvPr/>
        </p:nvGrpSpPr>
        <p:grpSpPr>
          <a:xfrm>
            <a:off x="1143000" y="3762360"/>
            <a:ext cx="5714640" cy="285480"/>
            <a:chOff x="1143000" y="3762360"/>
            <a:chExt cx="5714640" cy="285480"/>
          </a:xfrm>
        </p:grpSpPr>
        <p:sp>
          <p:nvSpPr>
            <p:cNvPr id="27" name="Rectangle 17"/>
            <p:cNvSpPr/>
            <p:nvPr/>
          </p:nvSpPr>
          <p:spPr>
            <a:xfrm>
              <a:off x="1143000" y="3762360"/>
              <a:ext cx="1238040" cy="28548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TextBox 18"/>
            <p:cNvSpPr/>
            <p:nvPr/>
          </p:nvSpPr>
          <p:spPr>
            <a:xfrm>
              <a:off x="1279800" y="3847680"/>
              <a:ext cx="964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38bdf8"/>
                  </a:solidFill>
                  <a:effectLst/>
                  <a:uFillTx/>
                  <a:latin typeface="Times New Roman"/>
                  <a:ea typeface="Times New Roman"/>
                </a:rPr>
                <a:t>React 19 + Vite</a:t>
              </a:r>
              <a:endParaRPr b="0" lang="en-US" sz="98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Rectangle 19"/>
            <p:cNvSpPr/>
            <p:nvPr/>
          </p:nvSpPr>
          <p:spPr>
            <a:xfrm>
              <a:off x="2476440" y="3762360"/>
              <a:ext cx="1428480" cy="28548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TextBox 20"/>
            <p:cNvSpPr/>
            <p:nvPr/>
          </p:nvSpPr>
          <p:spPr>
            <a:xfrm>
              <a:off x="2606400" y="3847680"/>
              <a:ext cx="1168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34d399"/>
                  </a:solidFill>
                  <a:effectLst/>
                  <a:uFillTx/>
                  <a:latin typeface="Times New Roman"/>
                  <a:ea typeface="Times New Roman"/>
                </a:rPr>
                <a:t>FastAPI + Python</a:t>
              </a:r>
              <a:endParaRPr b="0" lang="en-US" sz="98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Rectangle 21"/>
            <p:cNvSpPr/>
            <p:nvPr/>
          </p:nvSpPr>
          <p:spPr>
            <a:xfrm>
              <a:off x="4000680" y="3762360"/>
              <a:ext cx="1333080" cy="28548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TextBox 22"/>
            <p:cNvSpPr/>
            <p:nvPr/>
          </p:nvSpPr>
          <p:spPr>
            <a:xfrm>
              <a:off x="3947760" y="3847680"/>
              <a:ext cx="1438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818cf8"/>
                  </a:solidFill>
                  <a:effectLst/>
                  <a:uFillTx/>
                  <a:latin typeface="Times New Roman"/>
                  <a:ea typeface="Times New Roman"/>
                </a:rPr>
                <a:t>PostgreSQL RDBMS</a:t>
              </a:r>
              <a:endParaRPr b="0" lang="en-US" sz="98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Rectangle 23"/>
            <p:cNvSpPr/>
            <p:nvPr/>
          </p:nvSpPr>
          <p:spPr>
            <a:xfrm>
              <a:off x="5429160" y="3762360"/>
              <a:ext cx="1428480" cy="28548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TextBox 24"/>
            <p:cNvSpPr/>
            <p:nvPr/>
          </p:nvSpPr>
          <p:spPr>
            <a:xfrm>
              <a:off x="5479560" y="3847680"/>
              <a:ext cx="1327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fbbf24"/>
                  </a:solidFill>
                  <a:effectLst/>
                  <a:uFillTx/>
                  <a:latin typeface="Times New Roman"/>
                  <a:ea typeface="Times New Roman"/>
                </a:rPr>
                <a:t>Layered Architecture</a:t>
              </a:r>
              <a:endParaRPr b="0" lang="en-US" sz="98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5" name="bottom-cards"/>
          <p:cNvGrpSpPr/>
          <p:nvPr/>
        </p:nvGrpSpPr>
        <p:grpSpPr>
          <a:xfrm>
            <a:off x="1143000" y="4524480"/>
            <a:ext cx="10013040" cy="1047240"/>
            <a:chOff x="1143000" y="4524480"/>
            <a:chExt cx="10013040" cy="1047240"/>
          </a:xfrm>
        </p:grpSpPr>
        <p:sp>
          <p:nvSpPr>
            <p:cNvPr id="36" name="Rectangle 26"/>
            <p:cNvSpPr/>
            <p:nvPr/>
          </p:nvSpPr>
          <p:spPr>
            <a:xfrm>
              <a:off x="1143000" y="4524480"/>
              <a:ext cx="3047760" cy="1047240"/>
            </a:xfrm>
            <a:prstGeom prst="roundRect">
              <a:avLst>
                <a:gd name="adj" fmla="val 9091"/>
              </a:avLst>
            </a:prstGeom>
            <a:solidFill>
              <a:srgbClr val="111c3a"/>
            </a:solidFill>
            <a:ln w="14288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TextBox 27"/>
            <p:cNvSpPr/>
            <p:nvPr/>
          </p:nvSpPr>
          <p:spPr>
            <a:xfrm>
              <a:off x="1376280" y="4733280"/>
              <a:ext cx="20502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CANDIDATE &amp; PROJECT</a:t>
              </a:r>
              <a:endParaRPr b="0" lang="en-US" sz="98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TextBox 28"/>
            <p:cNvSpPr/>
            <p:nvPr/>
          </p:nvSpPr>
          <p:spPr>
            <a:xfrm>
              <a:off x="1374480" y="4986720"/>
              <a:ext cx="1605960" cy="24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280" strike="noStrike" u="none">
                  <a:solidFill>
                    <a:srgbClr val="f8fafc"/>
                  </a:solidFill>
                  <a:effectLst/>
                  <a:uFillTx/>
                  <a:latin typeface="Times New Roman"/>
                  <a:ea typeface="Times New Roman"/>
                </a:rPr>
                <a:t>Web-Project Thesis</a:t>
              </a:r>
              <a:endParaRPr b="0" lang="en-US" sz="128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TextBox 29"/>
            <p:cNvSpPr/>
            <p:nvPr/>
          </p:nvSpPr>
          <p:spPr>
            <a:xfrm>
              <a:off x="1375920" y="5249160"/>
              <a:ext cx="21664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Faculty of Information Technology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Rectangle 30"/>
            <p:cNvSpPr/>
            <p:nvPr/>
          </p:nvSpPr>
          <p:spPr>
            <a:xfrm>
              <a:off x="4476600" y="4524480"/>
              <a:ext cx="3047760" cy="1047240"/>
            </a:xfrm>
            <a:prstGeom prst="roundRect">
              <a:avLst>
                <a:gd name="adj" fmla="val 9091"/>
              </a:avLst>
            </a:prstGeom>
            <a:solidFill>
              <a:srgbClr val="111c3a"/>
            </a:solidFill>
            <a:ln w="14288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TextBox 31"/>
            <p:cNvSpPr/>
            <p:nvPr/>
          </p:nvSpPr>
          <p:spPr>
            <a:xfrm>
              <a:off x="4709880" y="4733280"/>
              <a:ext cx="13122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SYSTEM SCOPE</a:t>
              </a:r>
              <a:endParaRPr b="0" lang="en-US" sz="98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TextBox 32"/>
            <p:cNvSpPr/>
            <p:nvPr/>
          </p:nvSpPr>
          <p:spPr>
            <a:xfrm>
              <a:off x="4708440" y="4986720"/>
              <a:ext cx="1601640" cy="24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280" strike="noStrike" u="none">
                  <a:solidFill>
                    <a:srgbClr val="f8fafc"/>
                  </a:solidFill>
                  <a:effectLst/>
                  <a:uFillTx/>
                  <a:latin typeface="Times New Roman"/>
                  <a:ea typeface="Times New Roman"/>
                </a:rPr>
                <a:t>5 Operational Roles</a:t>
              </a:r>
              <a:endParaRPr b="0" lang="en-US" sz="128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TextBox 33"/>
            <p:cNvSpPr/>
            <p:nvPr/>
          </p:nvSpPr>
          <p:spPr>
            <a:xfrm>
              <a:off x="4709520" y="5249160"/>
              <a:ext cx="27248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Customer, Waiter, Chef, Delivery, Manager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Rectangle 34"/>
            <p:cNvSpPr/>
            <p:nvPr/>
          </p:nvSpPr>
          <p:spPr>
            <a:xfrm>
              <a:off x="7810560" y="4524480"/>
              <a:ext cx="3238200" cy="1047240"/>
            </a:xfrm>
            <a:prstGeom prst="roundRect">
              <a:avLst>
                <a:gd name="adj" fmla="val 9091"/>
              </a:avLst>
            </a:prstGeom>
            <a:solidFill>
              <a:srgbClr val="111c3a"/>
            </a:solidFill>
            <a:ln w="14288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TextBox 35"/>
            <p:cNvSpPr/>
            <p:nvPr/>
          </p:nvSpPr>
          <p:spPr>
            <a:xfrm>
              <a:off x="8043840" y="4733280"/>
              <a:ext cx="17730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CORE DELIVERABLE</a:t>
              </a:r>
              <a:endParaRPr b="0" lang="en-US" sz="98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TextBox 36"/>
            <p:cNvSpPr/>
            <p:nvPr/>
          </p:nvSpPr>
          <p:spPr>
            <a:xfrm>
              <a:off x="8042040" y="4986720"/>
              <a:ext cx="2000520" cy="24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280" strike="noStrike" u="none">
                  <a:solidFill>
                    <a:srgbClr val="f8fafc"/>
                  </a:solidFill>
                  <a:effectLst/>
                  <a:uFillTx/>
                  <a:latin typeface="Times New Roman"/>
                  <a:ea typeface="Times New Roman"/>
                </a:rPr>
                <a:t>Production-Grade RMS</a:t>
              </a:r>
              <a:endParaRPr b="0" lang="en-US" sz="128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TextBox 37"/>
            <p:cNvSpPr/>
            <p:nvPr/>
          </p:nvSpPr>
          <p:spPr>
            <a:xfrm>
              <a:off x="8043120" y="5249160"/>
              <a:ext cx="31129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KDS, Online/QR Ordering, Real-Time Analytics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1137960" y="6181200"/>
            <a:ext cx="9915480" cy="190440"/>
            <a:chOff x="1137960" y="6181200"/>
            <a:chExt cx="9915480" cy="190440"/>
          </a:xfrm>
        </p:grpSpPr>
        <p:sp>
          <p:nvSpPr>
            <p:cNvPr id="49" name="TextBox 39"/>
            <p:cNvSpPr/>
            <p:nvPr/>
          </p:nvSpPr>
          <p:spPr>
            <a:xfrm>
              <a:off x="1137960" y="6181200"/>
              <a:ext cx="38088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Academic Year: 2025 – 2026 • Final Thesis Defense Examination</a:t>
              </a:r>
              <a:endParaRPr b="0" lang="en-US" sz="98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TextBox 40"/>
            <p:cNvSpPr/>
            <p:nvPr/>
          </p:nvSpPr>
          <p:spPr>
            <a:xfrm>
              <a:off x="10305000" y="6181200"/>
              <a:ext cx="748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Slide 01 / 20</a:t>
              </a:r>
              <a:endParaRPr b="0" lang="en-US" sz="98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header"/>
          <p:cNvGrpSpPr/>
          <p:nvPr/>
        </p:nvGrpSpPr>
        <p:grpSpPr>
          <a:xfrm>
            <a:off x="750600" y="542520"/>
            <a:ext cx="10679040" cy="628560"/>
            <a:chOff x="750600" y="542520"/>
            <a:chExt cx="10679040" cy="628560"/>
          </a:xfrm>
        </p:grpSpPr>
        <p:sp>
          <p:nvSpPr>
            <p:cNvPr id="52" name="TextBox 2"/>
            <p:cNvSpPr/>
            <p:nvPr/>
          </p:nvSpPr>
          <p:spPr>
            <a:xfrm>
              <a:off x="757080" y="542520"/>
              <a:ext cx="2041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pc="74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TABLE OF CONTENTS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TextBox 3"/>
            <p:cNvSpPr/>
            <p:nvPr/>
          </p:nvSpPr>
          <p:spPr>
            <a:xfrm>
              <a:off x="750600" y="747720"/>
              <a:ext cx="2533680" cy="34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2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Presentation Agenda</a:t>
              </a:r>
              <a:endParaRPr b="0" lang="en-US" sz="22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Line 4"/>
            <p:cNvSpPr/>
            <p:nvPr/>
          </p:nvSpPr>
          <p:spPr>
            <a:xfrm>
              <a:off x="762120" y="116208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5" name="col-left"/>
          <p:cNvGrpSpPr/>
          <p:nvPr/>
        </p:nvGrpSpPr>
        <p:grpSpPr>
          <a:xfrm>
            <a:off x="762120" y="1428840"/>
            <a:ext cx="5175720" cy="4476240"/>
            <a:chOff x="762120" y="1428840"/>
            <a:chExt cx="5175720" cy="4476240"/>
          </a:xfrm>
        </p:grpSpPr>
        <p:sp>
          <p:nvSpPr>
            <p:cNvPr id="56" name="Rectangle 6"/>
            <p:cNvSpPr/>
            <p:nvPr/>
          </p:nvSpPr>
          <p:spPr>
            <a:xfrm>
              <a:off x="762120" y="1428840"/>
              <a:ext cx="5143320" cy="133308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Rectangle 7"/>
            <p:cNvSpPr/>
            <p:nvPr/>
          </p:nvSpPr>
          <p:spPr>
            <a:xfrm>
              <a:off x="762120" y="1428840"/>
              <a:ext cx="95040" cy="1333080"/>
            </a:xfrm>
            <a:prstGeom prst="roundRect">
              <a:avLst>
                <a:gd name="adj" fmla="val 40000"/>
              </a:avLst>
            </a:prstGeom>
            <a:solidFill>
              <a:srgbClr val="0284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Ellipse 8"/>
            <p:cNvSpPr/>
            <p:nvPr/>
          </p:nvSpPr>
          <p:spPr>
            <a:xfrm>
              <a:off x="1028880" y="1647720"/>
              <a:ext cx="418680" cy="418680"/>
            </a:xfrm>
            <a:prstGeom prst="ellipse">
              <a:avLst/>
            </a:prstGeom>
            <a:solidFill>
              <a:srgbClr val="e0f2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TextBox 9"/>
            <p:cNvSpPr/>
            <p:nvPr/>
          </p:nvSpPr>
          <p:spPr>
            <a:xfrm>
              <a:off x="1135440" y="1778400"/>
              <a:ext cx="2055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0369a1"/>
                  </a:solidFill>
                  <a:effectLst/>
                  <a:uFillTx/>
                  <a:latin typeface="Times New Roman"/>
                  <a:ea typeface="Times New Roman"/>
                </a:rPr>
                <a:t>01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TextBox 10"/>
            <p:cNvSpPr/>
            <p:nvPr/>
          </p:nvSpPr>
          <p:spPr>
            <a:xfrm>
              <a:off x="1659240" y="1647720"/>
              <a:ext cx="329436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Introduction &amp; Problem Statement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TextBox 11"/>
            <p:cNvSpPr/>
            <p:nvPr/>
          </p:nvSpPr>
          <p:spPr>
            <a:xfrm>
              <a:off x="1661400" y="1963080"/>
              <a:ext cx="4095000" cy="16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effectLst/>
                  <a:uFillTx/>
                  <a:latin typeface="Times New Roman"/>
                  <a:ea typeface="Times New Roman"/>
                </a:rPr>
                <a:t>Industry background, traditional dining bottlenecks, and research motivation.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TextBox 12"/>
            <p:cNvSpPr/>
            <p:nvPr/>
          </p:nvSpPr>
          <p:spPr>
            <a:xfrm>
              <a:off x="1661760" y="2180880"/>
              <a:ext cx="2779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Primary engineering goals and operational scope.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Rectangle 13"/>
            <p:cNvSpPr/>
            <p:nvPr/>
          </p:nvSpPr>
          <p:spPr>
            <a:xfrm>
              <a:off x="762120" y="3000240"/>
              <a:ext cx="5143320" cy="133308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Rectangle 14"/>
            <p:cNvSpPr/>
            <p:nvPr/>
          </p:nvSpPr>
          <p:spPr>
            <a:xfrm>
              <a:off x="762120" y="3000240"/>
              <a:ext cx="95040" cy="1333080"/>
            </a:xfrm>
            <a:prstGeom prst="roundRect">
              <a:avLst>
                <a:gd name="adj" fmla="val 40000"/>
              </a:avLst>
            </a:prstGeom>
            <a:solidFill>
              <a:srgbClr val="0284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Ellipse 15"/>
            <p:cNvSpPr/>
            <p:nvPr/>
          </p:nvSpPr>
          <p:spPr>
            <a:xfrm>
              <a:off x="1028880" y="3219480"/>
              <a:ext cx="418680" cy="418680"/>
            </a:xfrm>
            <a:prstGeom prst="ellipse">
              <a:avLst/>
            </a:prstGeom>
            <a:solidFill>
              <a:srgbClr val="e0f2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TextBox 16"/>
            <p:cNvSpPr/>
            <p:nvPr/>
          </p:nvSpPr>
          <p:spPr>
            <a:xfrm>
              <a:off x="1135440" y="3349800"/>
              <a:ext cx="2055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0369a1"/>
                  </a:solidFill>
                  <a:effectLst/>
                  <a:uFillTx/>
                  <a:latin typeface="Times New Roman"/>
                  <a:ea typeface="Times New Roman"/>
                </a:rPr>
                <a:t>02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TextBox 17"/>
            <p:cNvSpPr/>
            <p:nvPr/>
          </p:nvSpPr>
          <p:spPr>
            <a:xfrm>
              <a:off x="1659240" y="3219480"/>
              <a:ext cx="285588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System Architecture &amp; Design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TextBox 18"/>
            <p:cNvSpPr/>
            <p:nvPr/>
          </p:nvSpPr>
          <p:spPr>
            <a:xfrm>
              <a:off x="1661400" y="3534840"/>
              <a:ext cx="42764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effectLst/>
                  <a:uFillTx/>
                  <a:latin typeface="Times New Roman"/>
                  <a:ea typeface="Times New Roman"/>
                </a:rPr>
                <a:t>Decoupled 4-tier MVC/Repository structure and 5-actor coordination.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TextBox 19"/>
            <p:cNvSpPr/>
            <p:nvPr/>
          </p:nvSpPr>
          <p:spPr>
            <a:xfrm>
              <a:off x="1661760" y="3752280"/>
              <a:ext cx="26982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End-to-end order processing lifecycle pipelines.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Rectangle 20"/>
            <p:cNvSpPr/>
            <p:nvPr/>
          </p:nvSpPr>
          <p:spPr>
            <a:xfrm>
              <a:off x="762120" y="4572000"/>
              <a:ext cx="5143320" cy="133308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Rectangle 21"/>
            <p:cNvSpPr/>
            <p:nvPr/>
          </p:nvSpPr>
          <p:spPr>
            <a:xfrm>
              <a:off x="762120" y="4572000"/>
              <a:ext cx="95040" cy="1333080"/>
            </a:xfrm>
            <a:prstGeom prst="roundRect">
              <a:avLst>
                <a:gd name="adj" fmla="val 40000"/>
              </a:avLst>
            </a:prstGeom>
            <a:solidFill>
              <a:srgbClr val="0284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Ellipse 22"/>
            <p:cNvSpPr/>
            <p:nvPr/>
          </p:nvSpPr>
          <p:spPr>
            <a:xfrm>
              <a:off x="1028880" y="4791240"/>
              <a:ext cx="418680" cy="418680"/>
            </a:xfrm>
            <a:prstGeom prst="ellipse">
              <a:avLst/>
            </a:prstGeom>
            <a:solidFill>
              <a:srgbClr val="e0f2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23"/>
            <p:cNvSpPr/>
            <p:nvPr/>
          </p:nvSpPr>
          <p:spPr>
            <a:xfrm>
              <a:off x="1135440" y="4921560"/>
              <a:ext cx="2055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0369a1"/>
                  </a:solidFill>
                  <a:effectLst/>
                  <a:uFillTx/>
                  <a:latin typeface="Times New Roman"/>
                  <a:ea typeface="Times New Roman"/>
                </a:rPr>
                <a:t>03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Box 24"/>
            <p:cNvSpPr/>
            <p:nvPr/>
          </p:nvSpPr>
          <p:spPr>
            <a:xfrm>
              <a:off x="1659240" y="4791240"/>
              <a:ext cx="287676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Technology Stack Justification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25"/>
            <p:cNvSpPr/>
            <p:nvPr/>
          </p:nvSpPr>
          <p:spPr>
            <a:xfrm>
              <a:off x="1661400" y="5106240"/>
              <a:ext cx="39967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effectLst/>
                  <a:uFillTx/>
                  <a:latin typeface="Times New Roman"/>
                  <a:ea typeface="Times New Roman"/>
                </a:rPr>
                <a:t>Comparative evaluation of React 19, FastAPI, and PostgreSQL.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26"/>
            <p:cNvSpPr/>
            <p:nvPr/>
          </p:nvSpPr>
          <p:spPr>
            <a:xfrm>
              <a:off x="1661760" y="5324040"/>
              <a:ext cx="3676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Supporting libraries: TanStack Query, Pydantic, SQLAlchemy.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7" name="col-right"/>
          <p:cNvGrpSpPr/>
          <p:nvPr/>
        </p:nvGrpSpPr>
        <p:grpSpPr>
          <a:xfrm>
            <a:off x="6286680" y="1428840"/>
            <a:ext cx="5143320" cy="4476240"/>
            <a:chOff x="6286680" y="1428840"/>
            <a:chExt cx="5143320" cy="4476240"/>
          </a:xfrm>
        </p:grpSpPr>
        <p:sp>
          <p:nvSpPr>
            <p:cNvPr id="78" name="Rectangle 28"/>
            <p:cNvSpPr/>
            <p:nvPr/>
          </p:nvSpPr>
          <p:spPr>
            <a:xfrm>
              <a:off x="6286680" y="1428840"/>
              <a:ext cx="5143320" cy="133308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Rectangle 29"/>
            <p:cNvSpPr/>
            <p:nvPr/>
          </p:nvSpPr>
          <p:spPr>
            <a:xfrm>
              <a:off x="6286680" y="1428840"/>
              <a:ext cx="95040" cy="1333080"/>
            </a:xfrm>
            <a:prstGeom prst="roundRect">
              <a:avLst>
                <a:gd name="adj" fmla="val 4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Ellipse 30"/>
            <p:cNvSpPr/>
            <p:nvPr/>
          </p:nvSpPr>
          <p:spPr>
            <a:xfrm>
              <a:off x="6553080" y="1647720"/>
              <a:ext cx="418680" cy="418680"/>
            </a:xfrm>
            <a:prstGeom prst="ellipse">
              <a:avLst/>
            </a:prstGeom>
            <a:solidFill>
              <a:srgbClr val="fef3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31"/>
            <p:cNvSpPr/>
            <p:nvPr/>
          </p:nvSpPr>
          <p:spPr>
            <a:xfrm>
              <a:off x="6660000" y="1778400"/>
              <a:ext cx="2055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b45309"/>
                  </a:solidFill>
                  <a:effectLst/>
                  <a:uFillTx/>
                  <a:latin typeface="Times New Roman"/>
                  <a:ea typeface="Times New Roman"/>
                </a:rPr>
                <a:t>04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Box 32"/>
            <p:cNvSpPr/>
            <p:nvPr/>
          </p:nvSpPr>
          <p:spPr>
            <a:xfrm>
              <a:off x="7183800" y="1647720"/>
              <a:ext cx="279000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Core Functions &amp; Workflows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33"/>
            <p:cNvSpPr/>
            <p:nvPr/>
          </p:nvSpPr>
          <p:spPr>
            <a:xfrm>
              <a:off x="7185960" y="1963080"/>
              <a:ext cx="42130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effectLst/>
                  <a:uFillTx/>
                  <a:latin typeface="Times New Roman"/>
                  <a:ea typeface="Times New Roman"/>
                </a:rPr>
                <a:t>Contactless QR ordering, real-time Kitchen Display System (KDS).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34"/>
            <p:cNvSpPr/>
            <p:nvPr/>
          </p:nvSpPr>
          <p:spPr>
            <a:xfrm>
              <a:off x="7186320" y="2180880"/>
              <a:ext cx="34027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Table reservation manager, discounts, and executive reports.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Rectangle 35"/>
            <p:cNvSpPr/>
            <p:nvPr/>
          </p:nvSpPr>
          <p:spPr>
            <a:xfrm>
              <a:off x="6286680" y="3000240"/>
              <a:ext cx="5143320" cy="133308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Rectangle 36"/>
            <p:cNvSpPr/>
            <p:nvPr/>
          </p:nvSpPr>
          <p:spPr>
            <a:xfrm>
              <a:off x="6286680" y="3000240"/>
              <a:ext cx="95040" cy="1333080"/>
            </a:xfrm>
            <a:prstGeom prst="roundRect">
              <a:avLst>
                <a:gd name="adj" fmla="val 4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Ellipse 37"/>
            <p:cNvSpPr/>
            <p:nvPr/>
          </p:nvSpPr>
          <p:spPr>
            <a:xfrm>
              <a:off x="6553080" y="3219480"/>
              <a:ext cx="418680" cy="418680"/>
            </a:xfrm>
            <a:prstGeom prst="ellipse">
              <a:avLst/>
            </a:prstGeom>
            <a:solidFill>
              <a:srgbClr val="fef3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TextBox 38"/>
            <p:cNvSpPr/>
            <p:nvPr/>
          </p:nvSpPr>
          <p:spPr>
            <a:xfrm>
              <a:off x="6660000" y="3349800"/>
              <a:ext cx="2055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b45309"/>
                  </a:solidFill>
                  <a:effectLst/>
                  <a:uFillTx/>
                  <a:latin typeface="Times New Roman"/>
                  <a:ea typeface="Times New Roman"/>
                </a:rPr>
                <a:t>05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TextBox 39"/>
            <p:cNvSpPr/>
            <p:nvPr/>
          </p:nvSpPr>
          <p:spPr>
            <a:xfrm>
              <a:off x="7183800" y="3219480"/>
              <a:ext cx="300276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Limitations &amp; Future Roadmap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TextBox 40"/>
            <p:cNvSpPr/>
            <p:nvPr/>
          </p:nvSpPr>
          <p:spPr>
            <a:xfrm>
              <a:off x="7185960" y="3534840"/>
              <a:ext cx="35784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effectLst/>
                  <a:uFillTx/>
                  <a:latin typeface="Times New Roman"/>
                  <a:ea typeface="Times New Roman"/>
                </a:rPr>
                <a:t>Analysis of current architectural trade-offs and bottlenecks.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TextBox 41"/>
            <p:cNvSpPr/>
            <p:nvPr/>
          </p:nvSpPr>
          <p:spPr>
            <a:xfrm>
              <a:off x="7186320" y="3752280"/>
              <a:ext cx="3724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Roadmap: WebSockets push, AI dish recommendation, and IoT.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Rectangle 42"/>
            <p:cNvSpPr/>
            <p:nvPr/>
          </p:nvSpPr>
          <p:spPr>
            <a:xfrm>
              <a:off x="6286680" y="4572000"/>
              <a:ext cx="5143320" cy="133308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Rectangle 43"/>
            <p:cNvSpPr/>
            <p:nvPr/>
          </p:nvSpPr>
          <p:spPr>
            <a:xfrm>
              <a:off x="6286680" y="4572000"/>
              <a:ext cx="95040" cy="1333080"/>
            </a:xfrm>
            <a:prstGeom prst="roundRect">
              <a:avLst>
                <a:gd name="adj" fmla="val 4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Ellipse 44"/>
            <p:cNvSpPr/>
            <p:nvPr/>
          </p:nvSpPr>
          <p:spPr>
            <a:xfrm>
              <a:off x="6553080" y="4791240"/>
              <a:ext cx="418680" cy="418680"/>
            </a:xfrm>
            <a:prstGeom prst="ellipse">
              <a:avLst/>
            </a:prstGeom>
            <a:solidFill>
              <a:srgbClr val="fef3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TextBox 45"/>
            <p:cNvSpPr/>
            <p:nvPr/>
          </p:nvSpPr>
          <p:spPr>
            <a:xfrm>
              <a:off x="6660000" y="4921560"/>
              <a:ext cx="2055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b45309"/>
                  </a:solidFill>
                  <a:effectLst/>
                  <a:uFillTx/>
                  <a:latin typeface="Times New Roman"/>
                  <a:ea typeface="Times New Roman"/>
                </a:rPr>
                <a:t>06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TextBox 46"/>
            <p:cNvSpPr/>
            <p:nvPr/>
          </p:nvSpPr>
          <p:spPr>
            <a:xfrm>
              <a:off x="7183800" y="4791240"/>
              <a:ext cx="283932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Conclusion &amp; Key Takeaways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TextBox 47"/>
            <p:cNvSpPr/>
            <p:nvPr/>
          </p:nvSpPr>
          <p:spPr>
            <a:xfrm>
              <a:off x="7185960" y="5106240"/>
              <a:ext cx="30366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effectLst/>
                  <a:uFillTx/>
                  <a:latin typeface="Times New Roman"/>
                  <a:ea typeface="Times New Roman"/>
                </a:rPr>
                <a:t>Summary of academic and practical contributions.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TextBox 48"/>
            <p:cNvSpPr/>
            <p:nvPr/>
          </p:nvSpPr>
          <p:spPr>
            <a:xfrm>
              <a:off x="7186320" y="5324040"/>
              <a:ext cx="31669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Production takeaways and committee defense questions.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757080" y="6238800"/>
            <a:ext cx="10677600" cy="342360"/>
            <a:chOff x="757080" y="6238800"/>
            <a:chExt cx="10677600" cy="342360"/>
          </a:xfrm>
        </p:grpSpPr>
        <p:sp>
          <p:nvSpPr>
            <p:cNvPr id="100" name="Line 50"/>
            <p:cNvSpPr/>
            <p:nvPr/>
          </p:nvSpPr>
          <p:spPr>
            <a:xfrm>
              <a:off x="762120" y="623880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TextBox 51"/>
            <p:cNvSpPr/>
            <p:nvPr/>
          </p:nvSpPr>
          <p:spPr>
            <a:xfrm>
              <a:off x="757080" y="6390720"/>
              <a:ext cx="4138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Graduation Thesis Defense: Full-Stack Restaurant Management System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TextBox 52"/>
            <p:cNvSpPr/>
            <p:nvPr/>
          </p:nvSpPr>
          <p:spPr>
            <a:xfrm>
              <a:off x="10686240" y="6390720"/>
              <a:ext cx="748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Slide 02 / 20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decorations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104" name="Line 2"/>
            <p:cNvSpPr/>
            <p:nvPr/>
          </p:nvSpPr>
          <p:spPr>
            <a:xfrm>
              <a:off x="762120" y="0"/>
              <a:ext cx="9000" cy="6857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Line 3"/>
            <p:cNvSpPr/>
            <p:nvPr/>
          </p:nvSpPr>
          <p:spPr>
            <a:xfrm>
              <a:off x="11430000" y="0"/>
              <a:ext cx="9000" cy="6857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Line 4"/>
            <p:cNvSpPr/>
            <p:nvPr/>
          </p:nvSpPr>
          <p:spPr>
            <a:xfrm>
              <a:off x="0" y="6095880"/>
              <a:ext cx="12191760" cy="900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7" name="accent-graphics"/>
          <p:cNvGrpSpPr/>
          <p:nvPr/>
        </p:nvGrpSpPr>
        <p:grpSpPr>
          <a:xfrm>
            <a:off x="762120" y="380880"/>
            <a:ext cx="11238840" cy="3619440"/>
            <a:chOff x="762120" y="380880"/>
            <a:chExt cx="11238840" cy="3619440"/>
          </a:xfrm>
        </p:grpSpPr>
        <p:sp>
          <p:nvSpPr>
            <p:cNvPr id="108" name="Rectangle 6"/>
            <p:cNvSpPr/>
            <p:nvPr/>
          </p:nvSpPr>
          <p:spPr>
            <a:xfrm>
              <a:off x="762120" y="2286000"/>
              <a:ext cx="75960" cy="17143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Ellipse 7"/>
            <p:cNvSpPr/>
            <p:nvPr/>
          </p:nvSpPr>
          <p:spPr>
            <a:xfrm>
              <a:off x="9334440" y="380880"/>
              <a:ext cx="2666520" cy="2666520"/>
            </a:xfrm>
            <a:prstGeom prst="ellipse">
              <a:avLst/>
            </a:prstGeom>
            <a:solidFill>
              <a:srgbClr val="1e293b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Ellipse 8"/>
            <p:cNvSpPr/>
            <p:nvPr/>
          </p:nvSpPr>
          <p:spPr>
            <a:xfrm>
              <a:off x="9810720" y="857160"/>
              <a:ext cx="1714320" cy="1714320"/>
            </a:xfrm>
            <a:prstGeom prst="ellipse">
              <a:avLst/>
            </a:prstGeom>
            <a:solidFill>
              <a:srgbClr val="0f172a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1" name="section-badge"/>
          <p:cNvGrpSpPr/>
          <p:nvPr/>
        </p:nvGrpSpPr>
        <p:grpSpPr>
          <a:xfrm>
            <a:off x="1143000" y="2095560"/>
            <a:ext cx="1428480" cy="323640"/>
            <a:chOff x="1143000" y="2095560"/>
            <a:chExt cx="1428480" cy="323640"/>
          </a:xfrm>
        </p:grpSpPr>
        <p:sp>
          <p:nvSpPr>
            <p:cNvPr id="112" name="Rectangle 10"/>
            <p:cNvSpPr/>
            <p:nvPr/>
          </p:nvSpPr>
          <p:spPr>
            <a:xfrm>
              <a:off x="1143000" y="2095560"/>
              <a:ext cx="1428480" cy="32364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 w="14288">
              <a:solidFill>
                <a:srgbClr val="d9770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TextBox 11"/>
            <p:cNvSpPr/>
            <p:nvPr/>
          </p:nvSpPr>
          <p:spPr>
            <a:xfrm>
              <a:off x="1272240" y="2191680"/>
              <a:ext cx="11700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050" spc="74" strike="noStrike" u="none">
                  <a:solidFill>
                    <a:srgbClr val="fbbf24"/>
                  </a:solidFill>
                  <a:effectLst/>
                  <a:uFillTx/>
                  <a:latin typeface="Times New Roman"/>
                  <a:ea typeface="Times New Roman"/>
                </a:rPr>
                <a:t>SECTION 01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4" name="section-content"/>
          <p:cNvGrpSpPr/>
          <p:nvPr/>
        </p:nvGrpSpPr>
        <p:grpSpPr>
          <a:xfrm>
            <a:off x="1126080" y="2691720"/>
            <a:ext cx="7248240" cy="1011240"/>
            <a:chOff x="1126080" y="2691720"/>
            <a:chExt cx="7248240" cy="1011240"/>
          </a:xfrm>
        </p:grpSpPr>
        <p:sp>
          <p:nvSpPr>
            <p:cNvPr id="115" name="TextBox 13"/>
            <p:cNvSpPr/>
            <p:nvPr/>
          </p:nvSpPr>
          <p:spPr>
            <a:xfrm>
              <a:off x="1126080" y="2691720"/>
              <a:ext cx="724824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33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Introduction &amp; Problem Statement</a:t>
              </a:r>
              <a:endPara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TextBox 14"/>
            <p:cNvSpPr/>
            <p:nvPr/>
          </p:nvSpPr>
          <p:spPr>
            <a:xfrm>
              <a:off x="1135440" y="3409920"/>
              <a:ext cx="697356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50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Hospitality Industry Dynamics, Traditional Bottlenecks, and System Objectives</a:t>
              </a:r>
              <a:endPara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7" name="footer"/>
          <p:cNvGrpSpPr/>
          <p:nvPr/>
        </p:nvGrpSpPr>
        <p:grpSpPr>
          <a:xfrm>
            <a:off x="1137600" y="6220800"/>
            <a:ext cx="9916560" cy="204840"/>
            <a:chOff x="1137600" y="6220800"/>
            <a:chExt cx="9916560" cy="204840"/>
          </a:xfrm>
        </p:grpSpPr>
        <p:sp>
          <p:nvSpPr>
            <p:cNvPr id="118" name="TextBox 16"/>
            <p:cNvSpPr/>
            <p:nvPr/>
          </p:nvSpPr>
          <p:spPr>
            <a:xfrm>
              <a:off x="1137600" y="6220800"/>
              <a:ext cx="40154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Restaurant Management System | Graduation Thesis Presentation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Box 17"/>
            <p:cNvSpPr/>
            <p:nvPr/>
          </p:nvSpPr>
          <p:spPr>
            <a:xfrm>
              <a:off x="10252080" y="6220800"/>
              <a:ext cx="8020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Slide 03 / 20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header"/>
          <p:cNvGrpSpPr/>
          <p:nvPr/>
        </p:nvGrpSpPr>
        <p:grpSpPr>
          <a:xfrm>
            <a:off x="750600" y="542520"/>
            <a:ext cx="10679040" cy="644760"/>
            <a:chOff x="750600" y="542520"/>
            <a:chExt cx="10679040" cy="644760"/>
          </a:xfrm>
        </p:grpSpPr>
        <p:sp>
          <p:nvSpPr>
            <p:cNvPr id="121" name="TextBox 2"/>
            <p:cNvSpPr/>
            <p:nvPr/>
          </p:nvSpPr>
          <p:spPr>
            <a:xfrm>
              <a:off x="757080" y="542520"/>
              <a:ext cx="39438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pc="74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01. INTRODUCTION | INDUSTRY CONTEXT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TextBox 3"/>
            <p:cNvSpPr/>
            <p:nvPr/>
          </p:nvSpPr>
          <p:spPr>
            <a:xfrm>
              <a:off x="750600" y="747720"/>
              <a:ext cx="704988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2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Operational Bottlenecks in Traditional Hospitality</a:t>
              </a:r>
              <a:endParaRPr b="0" lang="en-US" sz="22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Line 4"/>
            <p:cNvSpPr/>
            <p:nvPr/>
          </p:nvSpPr>
          <p:spPr>
            <a:xfrm>
              <a:off x="762120" y="116208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4" name="cards-container"/>
          <p:cNvGrpSpPr/>
          <p:nvPr/>
        </p:nvGrpSpPr>
        <p:grpSpPr>
          <a:xfrm>
            <a:off x="762120" y="1428840"/>
            <a:ext cx="10667520" cy="3333240"/>
            <a:chOff x="762120" y="1428840"/>
            <a:chExt cx="10667520" cy="3333240"/>
          </a:xfrm>
        </p:grpSpPr>
        <p:sp>
          <p:nvSpPr>
            <p:cNvPr id="125" name="Rectangle 6"/>
            <p:cNvSpPr/>
            <p:nvPr/>
          </p:nvSpPr>
          <p:spPr>
            <a:xfrm>
              <a:off x="762120" y="1428840"/>
              <a:ext cx="3285720" cy="3333240"/>
            </a:xfrm>
            <a:prstGeom prst="roundRect">
              <a:avLst>
                <a:gd name="adj" fmla="val 289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Rectangle 7"/>
            <p:cNvSpPr/>
            <p:nvPr/>
          </p:nvSpPr>
          <p:spPr>
            <a:xfrm>
              <a:off x="762120" y="1428840"/>
              <a:ext cx="3285720" cy="7596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Ellipse 8"/>
            <p:cNvSpPr/>
            <p:nvPr/>
          </p:nvSpPr>
          <p:spPr>
            <a:xfrm>
              <a:off x="1009800" y="1676520"/>
              <a:ext cx="456840" cy="456840"/>
            </a:xfrm>
            <a:prstGeom prst="ellipse">
              <a:avLst/>
            </a:prstGeom>
            <a:solidFill>
              <a:srgbClr val="fee2e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TextBox 9"/>
            <p:cNvSpPr/>
            <p:nvPr/>
          </p:nvSpPr>
          <p:spPr>
            <a:xfrm>
              <a:off x="1195200" y="1819440"/>
              <a:ext cx="8604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dc2626"/>
                  </a:solidFill>
                  <a:effectLst/>
                  <a:uFillTx/>
                  <a:latin typeface="Times New Roman"/>
                  <a:ea typeface="Times New Roman"/>
                </a:rPr>
                <a:t>!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TextBox 10"/>
            <p:cNvSpPr/>
            <p:nvPr/>
          </p:nvSpPr>
          <p:spPr>
            <a:xfrm>
              <a:off x="1611720" y="1800360"/>
              <a:ext cx="214704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Paper &amp; Manual Flow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TextBox 11"/>
            <p:cNvSpPr/>
            <p:nvPr/>
          </p:nvSpPr>
          <p:spPr>
            <a:xfrm>
              <a:off x="994680" y="2315520"/>
              <a:ext cx="21704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Illegible Hand-Written Tickets: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TextBox 12"/>
            <p:cNvSpPr/>
            <p:nvPr/>
          </p:nvSpPr>
          <p:spPr>
            <a:xfrm>
              <a:off x="995040" y="2542680"/>
              <a:ext cx="21877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Kitchen misreadings cause high waste.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TextBox 13"/>
            <p:cNvSpPr/>
            <p:nvPr/>
          </p:nvSpPr>
          <p:spPr>
            <a:xfrm>
              <a:off x="994680" y="2887200"/>
              <a:ext cx="22471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High Wait Times &amp; Bottlenecks: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TextBox 14"/>
            <p:cNvSpPr/>
            <p:nvPr/>
          </p:nvSpPr>
          <p:spPr>
            <a:xfrm>
              <a:off x="995040" y="3114360"/>
              <a:ext cx="20862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Waitstaff repeatedly walk to kitchen.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TextBox 15"/>
            <p:cNvSpPr/>
            <p:nvPr/>
          </p:nvSpPr>
          <p:spPr>
            <a:xfrm>
              <a:off x="994680" y="3458520"/>
              <a:ext cx="18280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Billing &amp; Splitting Errors: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TextBox 16"/>
            <p:cNvSpPr/>
            <p:nvPr/>
          </p:nvSpPr>
          <p:spPr>
            <a:xfrm>
              <a:off x="995040" y="3685680"/>
              <a:ext cx="20476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Manual tallying causes register loss.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Rectangle 17"/>
            <p:cNvSpPr/>
            <p:nvPr/>
          </p:nvSpPr>
          <p:spPr>
            <a:xfrm>
              <a:off x="1000080" y="4191120"/>
              <a:ext cx="2809440" cy="380520"/>
            </a:xfrm>
            <a:prstGeom prst="roundRect">
              <a:avLst>
                <a:gd name="adj" fmla="val 15000"/>
              </a:avLst>
            </a:prstGeom>
            <a:solidFill>
              <a:srgbClr val="fef2f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TextBox 18"/>
            <p:cNvSpPr/>
            <p:nvPr/>
          </p:nvSpPr>
          <p:spPr>
            <a:xfrm>
              <a:off x="1268280" y="4323960"/>
              <a:ext cx="2263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991b1b"/>
                  </a:solidFill>
                  <a:effectLst/>
                  <a:uFillTx/>
                  <a:latin typeface="Times New Roman"/>
                  <a:ea typeface="Times New Roman"/>
                </a:rPr>
                <a:t>Result: Low Table Turnover &amp; Loss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19"/>
            <p:cNvSpPr/>
            <p:nvPr/>
          </p:nvSpPr>
          <p:spPr>
            <a:xfrm>
              <a:off x="4429080" y="1428840"/>
              <a:ext cx="3333240" cy="333324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Rectangle 20"/>
            <p:cNvSpPr/>
            <p:nvPr/>
          </p:nvSpPr>
          <p:spPr>
            <a:xfrm>
              <a:off x="4429080" y="1428840"/>
              <a:ext cx="3333240" cy="7596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Ellipse 21"/>
            <p:cNvSpPr/>
            <p:nvPr/>
          </p:nvSpPr>
          <p:spPr>
            <a:xfrm>
              <a:off x="4676760" y="1676520"/>
              <a:ext cx="456840" cy="456840"/>
            </a:xfrm>
            <a:prstGeom prst="ellipse">
              <a:avLst/>
            </a:prstGeom>
            <a:solidFill>
              <a:srgbClr val="ffedd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TextBox 22"/>
            <p:cNvSpPr/>
            <p:nvPr/>
          </p:nvSpPr>
          <p:spPr>
            <a:xfrm>
              <a:off x="4785840" y="1819440"/>
              <a:ext cx="23904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ea580c"/>
                  </a:solidFill>
                  <a:effectLst/>
                  <a:uFillTx/>
                  <a:latin typeface="Times New Roman"/>
                  <a:ea typeface="Times New Roman"/>
                </a:rPr>
                <a:t>⚠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TextBox 23"/>
            <p:cNvSpPr/>
            <p:nvPr/>
          </p:nvSpPr>
          <p:spPr>
            <a:xfrm>
              <a:off x="5278680" y="1800360"/>
              <a:ext cx="196488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Fragmented Systems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TextBox 24"/>
            <p:cNvSpPr/>
            <p:nvPr/>
          </p:nvSpPr>
          <p:spPr>
            <a:xfrm>
              <a:off x="4662000" y="2315520"/>
              <a:ext cx="16038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Isolated Delivery Silos: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TextBox 25"/>
            <p:cNvSpPr/>
            <p:nvPr/>
          </p:nvSpPr>
          <p:spPr>
            <a:xfrm>
              <a:off x="4662360" y="2542680"/>
              <a:ext cx="19969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Third-party tablets clutter counters.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TextBox 26"/>
            <p:cNvSpPr/>
            <p:nvPr/>
          </p:nvSpPr>
          <p:spPr>
            <a:xfrm>
              <a:off x="4662000" y="2887200"/>
              <a:ext cx="17492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Disjointed Kitchen View: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TextBox 27"/>
            <p:cNvSpPr/>
            <p:nvPr/>
          </p:nvSpPr>
          <p:spPr>
            <a:xfrm>
              <a:off x="4662360" y="3114360"/>
              <a:ext cx="20138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Chefs cannot balance multi-queues.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TextBox 28"/>
            <p:cNvSpPr/>
            <p:nvPr/>
          </p:nvSpPr>
          <p:spPr>
            <a:xfrm>
              <a:off x="4662000" y="3458520"/>
              <a:ext cx="18327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Blind Inventory Tracking: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TextBox 29"/>
            <p:cNvSpPr/>
            <p:nvPr/>
          </p:nvSpPr>
          <p:spPr>
            <a:xfrm>
              <a:off x="4662360" y="3685680"/>
              <a:ext cx="19216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No stock sync leads to 86'd items.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Rectangle 30"/>
            <p:cNvSpPr/>
            <p:nvPr/>
          </p:nvSpPr>
          <p:spPr>
            <a:xfrm>
              <a:off x="4667400" y="4191120"/>
              <a:ext cx="2857320" cy="380520"/>
            </a:xfrm>
            <a:prstGeom prst="roundRect">
              <a:avLst>
                <a:gd name="adj" fmla="val 15000"/>
              </a:avLst>
            </a:prstGeom>
            <a:solidFill>
              <a:srgbClr val="fff7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TextBox 31"/>
            <p:cNvSpPr/>
            <p:nvPr/>
          </p:nvSpPr>
          <p:spPr>
            <a:xfrm>
              <a:off x="4957560" y="4323960"/>
              <a:ext cx="22762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9a3412"/>
                  </a:solidFill>
                  <a:effectLst/>
                  <a:uFillTx/>
                  <a:latin typeface="Times New Roman"/>
                  <a:ea typeface="Times New Roman"/>
                </a:rPr>
                <a:t>Result: Operational Chaos &amp; Desync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Rectangle 32"/>
            <p:cNvSpPr/>
            <p:nvPr/>
          </p:nvSpPr>
          <p:spPr>
            <a:xfrm>
              <a:off x="8143920" y="1428840"/>
              <a:ext cx="3285720" cy="3333240"/>
            </a:xfrm>
            <a:prstGeom prst="roundRect">
              <a:avLst>
                <a:gd name="adj" fmla="val 289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Rectangle 33"/>
            <p:cNvSpPr/>
            <p:nvPr/>
          </p:nvSpPr>
          <p:spPr>
            <a:xfrm>
              <a:off x="8143920" y="1428840"/>
              <a:ext cx="3285720" cy="7596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Ellipse 34"/>
            <p:cNvSpPr/>
            <p:nvPr/>
          </p:nvSpPr>
          <p:spPr>
            <a:xfrm>
              <a:off x="8391600" y="1676520"/>
              <a:ext cx="456840" cy="456840"/>
            </a:xfrm>
            <a:prstGeom prst="ellipse">
              <a:avLst/>
            </a:prstGeom>
            <a:solidFill>
              <a:srgbClr val="e0f2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TextBox 35"/>
            <p:cNvSpPr/>
            <p:nvPr/>
          </p:nvSpPr>
          <p:spPr>
            <a:xfrm>
              <a:off x="8500320" y="1819440"/>
              <a:ext cx="23904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284c7"/>
                  </a:solidFill>
                  <a:effectLst/>
                  <a:uFillTx/>
                  <a:latin typeface="Times New Roman"/>
                  <a:ea typeface="Times New Roman"/>
                </a:rPr>
                <a:t>⚡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TextBox 36"/>
            <p:cNvSpPr/>
            <p:nvPr/>
          </p:nvSpPr>
          <p:spPr>
            <a:xfrm>
              <a:off x="8993520" y="1800360"/>
              <a:ext cx="202320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Modern Expectations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TextBox 37"/>
            <p:cNvSpPr/>
            <p:nvPr/>
          </p:nvSpPr>
          <p:spPr>
            <a:xfrm>
              <a:off x="8376840" y="2315520"/>
              <a:ext cx="18345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Contactless QR Ordering: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TextBox 38"/>
            <p:cNvSpPr/>
            <p:nvPr/>
          </p:nvSpPr>
          <p:spPr>
            <a:xfrm>
              <a:off x="8377200" y="2542680"/>
              <a:ext cx="21380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Guests want fast mobile menu access.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TextBox 39"/>
            <p:cNvSpPr/>
            <p:nvPr/>
          </p:nvSpPr>
          <p:spPr>
            <a:xfrm>
              <a:off x="8376840" y="2887200"/>
              <a:ext cx="18410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Live Status Transparency: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TextBox 40"/>
            <p:cNvSpPr/>
            <p:nvPr/>
          </p:nvSpPr>
          <p:spPr>
            <a:xfrm>
              <a:off x="8377200" y="3114360"/>
              <a:ext cx="19857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Diners expect real-time prep alerts.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TextBox 41"/>
            <p:cNvSpPr/>
            <p:nvPr/>
          </p:nvSpPr>
          <p:spPr>
            <a:xfrm>
              <a:off x="8376840" y="3458520"/>
              <a:ext cx="16214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Data-Driven Decisions: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TextBox 42"/>
            <p:cNvSpPr/>
            <p:nvPr/>
          </p:nvSpPr>
          <p:spPr>
            <a:xfrm>
              <a:off x="8377200" y="3685680"/>
              <a:ext cx="2071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Managers need live revenue metrics.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Rectangle 43"/>
            <p:cNvSpPr/>
            <p:nvPr/>
          </p:nvSpPr>
          <p:spPr>
            <a:xfrm>
              <a:off x="8381880" y="4191120"/>
              <a:ext cx="2809440" cy="380520"/>
            </a:xfrm>
            <a:prstGeom prst="roundRect">
              <a:avLst>
                <a:gd name="adj" fmla="val 15000"/>
              </a:avLst>
            </a:prstGeom>
            <a:solidFill>
              <a:srgbClr val="f0f9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TextBox 44"/>
            <p:cNvSpPr/>
            <p:nvPr/>
          </p:nvSpPr>
          <p:spPr>
            <a:xfrm>
              <a:off x="8654400" y="4323960"/>
              <a:ext cx="22554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075985"/>
                  </a:solidFill>
                  <a:effectLst/>
                  <a:uFillTx/>
                  <a:latin typeface="Times New Roman"/>
                  <a:ea typeface="Times New Roman"/>
                </a:rPr>
                <a:t>Result: Modern Web Platform Need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4" name="bottom-callout"/>
          <p:cNvGrpSpPr/>
          <p:nvPr/>
        </p:nvGrpSpPr>
        <p:grpSpPr>
          <a:xfrm>
            <a:off x="762120" y="5000760"/>
            <a:ext cx="10667520" cy="999720"/>
            <a:chOff x="762120" y="5000760"/>
            <a:chExt cx="10667520" cy="999720"/>
          </a:xfrm>
        </p:grpSpPr>
        <p:sp>
          <p:nvSpPr>
            <p:cNvPr id="165" name="Rectangle 46"/>
            <p:cNvSpPr/>
            <p:nvPr/>
          </p:nvSpPr>
          <p:spPr>
            <a:xfrm>
              <a:off x="762120" y="5000760"/>
              <a:ext cx="10667520" cy="999720"/>
            </a:xfrm>
            <a:prstGeom prst="roundRect">
              <a:avLst>
                <a:gd name="adj" fmla="val 7619"/>
              </a:avLst>
            </a:prstGeom>
            <a:solidFill>
              <a:srgbClr val="0f172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Rectangle 47"/>
            <p:cNvSpPr/>
            <p:nvPr/>
          </p:nvSpPr>
          <p:spPr>
            <a:xfrm>
              <a:off x="762120" y="5000760"/>
              <a:ext cx="75960" cy="9997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TextBox 48"/>
            <p:cNvSpPr/>
            <p:nvPr/>
          </p:nvSpPr>
          <p:spPr>
            <a:xfrm>
              <a:off x="1042200" y="5193360"/>
              <a:ext cx="463320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120" strike="noStrike" u="none">
                  <a:solidFill>
                    <a:srgbClr val="fbbf24"/>
                  </a:solidFill>
                  <a:effectLst/>
                  <a:uFillTx/>
                  <a:latin typeface="Times New Roman"/>
                  <a:ea typeface="Times New Roman"/>
                </a:rPr>
                <a:t>CORE RESEARCH &amp; ENGINEERING CHALLENGE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TextBox 49"/>
            <p:cNvSpPr/>
            <p:nvPr/>
          </p:nvSpPr>
          <p:spPr>
            <a:xfrm>
              <a:off x="1042200" y="5460120"/>
              <a:ext cx="652176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120" strike="noStrike" u="none">
                  <a:solidFill>
                    <a:srgbClr val="e2e8f0"/>
                  </a:solidFill>
                  <a:effectLst/>
                  <a:uFillTx/>
                  <a:latin typeface="Times New Roman"/>
                  <a:ea typeface="Times New Roman"/>
                </a:rPr>
                <a:t>How to design a unified, low-latency, and fault-tolerant software system that seamlessly synchronizes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TextBox 50"/>
            <p:cNvSpPr/>
            <p:nvPr/>
          </p:nvSpPr>
          <p:spPr>
            <a:xfrm>
              <a:off x="1042200" y="5669640"/>
              <a:ext cx="615060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120" strike="noStrike" u="none">
                  <a:solidFill>
                    <a:srgbClr val="e2e8f0"/>
                  </a:solidFill>
                  <a:effectLst/>
                  <a:uFillTx/>
                  <a:latin typeface="Times New Roman"/>
                  <a:ea typeface="Times New Roman"/>
                </a:rPr>
                <a:t>customers, waiters, kitchen chefs, couriers, and managers under high transactional concurrency?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0" name="footer"/>
          <p:cNvGrpSpPr/>
          <p:nvPr/>
        </p:nvGrpSpPr>
        <p:grpSpPr>
          <a:xfrm>
            <a:off x="757080" y="6238800"/>
            <a:ext cx="10677600" cy="342360"/>
            <a:chOff x="757080" y="6238800"/>
            <a:chExt cx="10677600" cy="342360"/>
          </a:xfrm>
        </p:grpSpPr>
        <p:sp>
          <p:nvSpPr>
            <p:cNvPr id="171" name="Line 52"/>
            <p:cNvSpPr/>
            <p:nvPr/>
          </p:nvSpPr>
          <p:spPr>
            <a:xfrm>
              <a:off x="762120" y="623880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TextBox 53"/>
            <p:cNvSpPr/>
            <p:nvPr/>
          </p:nvSpPr>
          <p:spPr>
            <a:xfrm>
              <a:off x="757080" y="6390720"/>
              <a:ext cx="4138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Graduation Thesis Defense: Full-Stack Restaurant Management System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TextBox 54"/>
            <p:cNvSpPr/>
            <p:nvPr/>
          </p:nvSpPr>
          <p:spPr>
            <a:xfrm>
              <a:off x="10686240" y="6390720"/>
              <a:ext cx="748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Slide 04 / 20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header"/>
          <p:cNvGrpSpPr/>
          <p:nvPr/>
        </p:nvGrpSpPr>
        <p:grpSpPr>
          <a:xfrm>
            <a:off x="750600" y="542520"/>
            <a:ext cx="10679040" cy="644760"/>
            <a:chOff x="750600" y="542520"/>
            <a:chExt cx="10679040" cy="644760"/>
          </a:xfrm>
        </p:grpSpPr>
        <p:sp>
          <p:nvSpPr>
            <p:cNvPr id="175" name="TextBox 2"/>
            <p:cNvSpPr/>
            <p:nvPr/>
          </p:nvSpPr>
          <p:spPr>
            <a:xfrm>
              <a:off x="757080" y="542520"/>
              <a:ext cx="34311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pc="74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01. INTRODUCTION | SYSTEM SCOPE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TextBox 3"/>
            <p:cNvSpPr/>
            <p:nvPr/>
          </p:nvSpPr>
          <p:spPr>
            <a:xfrm>
              <a:off x="750600" y="747720"/>
              <a:ext cx="654696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2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Project Objectives &amp;amp; Architectural Scope</a:t>
              </a:r>
              <a:endParaRPr b="0" lang="en-US" sz="22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Line 4"/>
            <p:cNvSpPr/>
            <p:nvPr/>
          </p:nvSpPr>
          <p:spPr>
            <a:xfrm>
              <a:off x="762120" y="116208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8" name="objectives-grid"/>
          <p:cNvGrpSpPr/>
          <p:nvPr/>
        </p:nvGrpSpPr>
        <p:grpSpPr>
          <a:xfrm>
            <a:off x="762120" y="1428840"/>
            <a:ext cx="10956240" cy="4524120"/>
            <a:chOff x="762120" y="1428840"/>
            <a:chExt cx="10956240" cy="4524120"/>
          </a:xfrm>
        </p:grpSpPr>
        <p:sp>
          <p:nvSpPr>
            <p:cNvPr id="179" name="Rectangle 6"/>
            <p:cNvSpPr/>
            <p:nvPr/>
          </p:nvSpPr>
          <p:spPr>
            <a:xfrm>
              <a:off x="762120" y="1428840"/>
              <a:ext cx="5143320" cy="2047680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Rectangle 7"/>
            <p:cNvSpPr/>
            <p:nvPr/>
          </p:nvSpPr>
          <p:spPr>
            <a:xfrm>
              <a:off x="762120" y="1428840"/>
              <a:ext cx="75960" cy="204768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Ellipse 8"/>
            <p:cNvSpPr/>
            <p:nvPr/>
          </p:nvSpPr>
          <p:spPr>
            <a:xfrm>
              <a:off x="1000080" y="1666800"/>
              <a:ext cx="380520" cy="380520"/>
            </a:xfrm>
            <a:prstGeom prst="ellipse">
              <a:avLst/>
            </a:prstGeom>
            <a:solidFill>
              <a:srgbClr val="e0f2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TextBox 9"/>
            <p:cNvSpPr/>
            <p:nvPr/>
          </p:nvSpPr>
          <p:spPr>
            <a:xfrm>
              <a:off x="1138680" y="1786320"/>
              <a:ext cx="103680" cy="24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80" strike="noStrike" u="none">
                  <a:solidFill>
                    <a:srgbClr val="0284c7"/>
                  </a:solidFill>
                  <a:effectLst/>
                  <a:uFillTx/>
                  <a:latin typeface="Times New Roman"/>
                  <a:ea typeface="Times New Roman"/>
                </a:rPr>
                <a:t>1</a:t>
              </a:r>
              <a:endParaRPr b="0" lang="en-US" sz="12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TextBox 10"/>
            <p:cNvSpPr/>
            <p:nvPr/>
          </p:nvSpPr>
          <p:spPr>
            <a:xfrm>
              <a:off x="1563840" y="1743120"/>
              <a:ext cx="315108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Unified Multi-Role Collaboration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TextBox 11"/>
            <p:cNvSpPr/>
            <p:nvPr/>
          </p:nvSpPr>
          <p:spPr>
            <a:xfrm>
              <a:off x="994680" y="2191680"/>
              <a:ext cx="29091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Cohesive experience across 5 dedicated roles: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TextBox 12"/>
            <p:cNvSpPr/>
            <p:nvPr/>
          </p:nvSpPr>
          <p:spPr>
            <a:xfrm>
              <a:off x="995040" y="2428560"/>
              <a:ext cx="42048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6320" indent="-76320" defTabSz="457200">
                <a:lnSpc>
                  <a:spcPct val="100000"/>
                </a:lnSpc>
                <a:buClr>
                  <a:srgbClr val="64748b"/>
                </a:buClr>
                <a:buFont typeface="Symbol" charset="2"/>
                <a:buChar char=""/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Customer, Waiter, Chef/Kitchen, Delivery Courier, and Store Manager.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TextBox 13"/>
            <p:cNvSpPr/>
            <p:nvPr/>
          </p:nvSpPr>
          <p:spPr>
            <a:xfrm>
              <a:off x="994680" y="2667960"/>
              <a:ext cx="31489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Granular Role-Based Access Control (RBAC):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TextBox 14"/>
            <p:cNvSpPr/>
            <p:nvPr/>
          </p:nvSpPr>
          <p:spPr>
            <a:xfrm>
              <a:off x="995040" y="2904480"/>
              <a:ext cx="45367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6320" indent="-76320" defTabSz="457200">
                <a:lnSpc>
                  <a:spcPct val="100000"/>
                </a:lnSpc>
                <a:buClr>
                  <a:srgbClr val="64748b"/>
                </a:buClr>
                <a:buFont typeface="Symbol" charset="2"/>
                <a:buChar char=""/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Cryptographically verified JWT tokens enforcing strict endpoint authorization.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TextBox 15"/>
            <p:cNvSpPr/>
            <p:nvPr/>
          </p:nvSpPr>
          <p:spPr>
            <a:xfrm>
              <a:off x="995040" y="3133080"/>
              <a:ext cx="38199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0284c7"/>
                  </a:solidFill>
                  <a:effectLst/>
                  <a:uFillTx/>
                  <a:latin typeface="Times New Roman"/>
                  <a:ea typeface="Times New Roman"/>
                </a:rPr>
                <a:t>✓ Goal: Eliminate organizational silos and communication lag.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Rectangle 16"/>
            <p:cNvSpPr/>
            <p:nvPr/>
          </p:nvSpPr>
          <p:spPr>
            <a:xfrm>
              <a:off x="6286680" y="1428840"/>
              <a:ext cx="5143320" cy="2047680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Rectangle 17"/>
            <p:cNvSpPr/>
            <p:nvPr/>
          </p:nvSpPr>
          <p:spPr>
            <a:xfrm>
              <a:off x="6286680" y="1428840"/>
              <a:ext cx="75960" cy="204768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Ellipse 18"/>
            <p:cNvSpPr/>
            <p:nvPr/>
          </p:nvSpPr>
          <p:spPr>
            <a:xfrm>
              <a:off x="6524640" y="1666800"/>
              <a:ext cx="380520" cy="380520"/>
            </a:xfrm>
            <a:prstGeom prst="ellipse">
              <a:avLst/>
            </a:prstGeom>
            <a:solidFill>
              <a:srgbClr val="d1fa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TextBox 19"/>
            <p:cNvSpPr/>
            <p:nvPr/>
          </p:nvSpPr>
          <p:spPr>
            <a:xfrm>
              <a:off x="6663240" y="1786320"/>
              <a:ext cx="103680" cy="24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80" strike="noStrike" u="none">
                  <a:solidFill>
                    <a:srgbClr val="059669"/>
                  </a:solidFill>
                  <a:effectLst/>
                  <a:uFillTx/>
                  <a:latin typeface="Times New Roman"/>
                  <a:ea typeface="Times New Roman"/>
                </a:rPr>
                <a:t>2</a:t>
              </a:r>
              <a:endParaRPr b="0" lang="en-US" sz="12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TextBox 20"/>
            <p:cNvSpPr/>
            <p:nvPr/>
          </p:nvSpPr>
          <p:spPr>
            <a:xfrm>
              <a:off x="7088400" y="1743120"/>
              <a:ext cx="404244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Real-Time Kitchen Display System (KDS)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TextBox 21"/>
            <p:cNvSpPr/>
            <p:nvPr/>
          </p:nvSpPr>
          <p:spPr>
            <a:xfrm>
              <a:off x="6519240" y="2191680"/>
              <a:ext cx="18741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Digital Ticket Coordination: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TextBox 22"/>
            <p:cNvSpPr/>
            <p:nvPr/>
          </p:nvSpPr>
          <p:spPr>
            <a:xfrm>
              <a:off x="6519600" y="2428560"/>
              <a:ext cx="41140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6320" indent="-76320" defTabSz="457200">
                <a:lnSpc>
                  <a:spcPct val="100000"/>
                </a:lnSpc>
                <a:buClr>
                  <a:srgbClr val="64748b"/>
                </a:buClr>
                <a:buFont typeface="Symbol" charset="2"/>
                <a:buChar char=""/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Immediate ticket transmission from customer tables to cooking stations.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TextBox 23"/>
            <p:cNvSpPr/>
            <p:nvPr/>
          </p:nvSpPr>
          <p:spPr>
            <a:xfrm>
              <a:off x="6519240" y="2667960"/>
              <a:ext cx="18180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State Machine Progression: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TextBox 24"/>
            <p:cNvSpPr/>
            <p:nvPr/>
          </p:nvSpPr>
          <p:spPr>
            <a:xfrm>
              <a:off x="6519600" y="2904480"/>
              <a:ext cx="51987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6320" indent="-76320" defTabSz="457200">
                <a:lnSpc>
                  <a:spcPct val="100000"/>
                </a:lnSpc>
                <a:buClr>
                  <a:srgbClr val="64748b"/>
                </a:buClr>
                <a:buFont typeface="Symbol" charset="2"/>
                <a:buChar char=""/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Structured order stages: PENDING → COOKING → READY → DELIVERED.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TextBox 25"/>
            <p:cNvSpPr/>
            <p:nvPr/>
          </p:nvSpPr>
          <p:spPr>
            <a:xfrm>
              <a:off x="6519600" y="3133080"/>
              <a:ext cx="46587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059669"/>
                  </a:solidFill>
                  <a:effectLst/>
                  <a:uFillTx/>
                  <a:latin typeface="Times New Roman"/>
                  <a:ea typeface="Times New Roman"/>
                </a:rPr>
                <a:t>✓ Goal: Replace thermal printers with zero-paper, zero-noise digital screens.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Rectangle 26"/>
            <p:cNvSpPr/>
            <p:nvPr/>
          </p:nvSpPr>
          <p:spPr>
            <a:xfrm>
              <a:off x="762120" y="3714840"/>
              <a:ext cx="5143320" cy="223812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Rectangle 27"/>
            <p:cNvSpPr/>
            <p:nvPr/>
          </p:nvSpPr>
          <p:spPr>
            <a:xfrm>
              <a:off x="762120" y="3714840"/>
              <a:ext cx="75960" cy="223812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Ellipse 28"/>
            <p:cNvSpPr/>
            <p:nvPr/>
          </p:nvSpPr>
          <p:spPr>
            <a:xfrm>
              <a:off x="1000080" y="3952800"/>
              <a:ext cx="380520" cy="380520"/>
            </a:xfrm>
            <a:prstGeom prst="ellipse">
              <a:avLst/>
            </a:prstGeom>
            <a:solidFill>
              <a:srgbClr val="ede9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TextBox 29"/>
            <p:cNvSpPr/>
            <p:nvPr/>
          </p:nvSpPr>
          <p:spPr>
            <a:xfrm>
              <a:off x="1138680" y="4072320"/>
              <a:ext cx="103680" cy="24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80" strike="noStrike" u="none">
                  <a:solidFill>
                    <a:srgbClr val="7c3aed"/>
                  </a:solidFill>
                  <a:effectLst/>
                  <a:uFillTx/>
                  <a:latin typeface="Times New Roman"/>
                  <a:ea typeface="Times New Roman"/>
                </a:rPr>
                <a:t>3</a:t>
              </a:r>
              <a:endParaRPr b="0" lang="en-US" sz="12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TextBox 30"/>
            <p:cNvSpPr/>
            <p:nvPr/>
          </p:nvSpPr>
          <p:spPr>
            <a:xfrm>
              <a:off x="1563840" y="4029120"/>
              <a:ext cx="352908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Transaction Integrity &amp; Concurrency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TextBox 31"/>
            <p:cNvSpPr/>
            <p:nvPr/>
          </p:nvSpPr>
          <p:spPr>
            <a:xfrm>
              <a:off x="994680" y="4477680"/>
              <a:ext cx="24537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ACID-Compliant Relational Design: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TextBox 32"/>
            <p:cNvSpPr/>
            <p:nvPr/>
          </p:nvSpPr>
          <p:spPr>
            <a:xfrm>
              <a:off x="995040" y="4714560"/>
              <a:ext cx="43650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6320" indent="-76320" defTabSz="457200">
                <a:lnSpc>
                  <a:spcPct val="100000"/>
                </a:lnSpc>
                <a:buClr>
                  <a:srgbClr val="64748b"/>
                </a:buClr>
                <a:buFont typeface="Symbol" charset="2"/>
                <a:buChar char=""/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Strong database transactions guaranteeing inventory accuracy during rushes.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TextBox 33"/>
            <p:cNvSpPr/>
            <p:nvPr/>
          </p:nvSpPr>
          <p:spPr>
            <a:xfrm>
              <a:off x="994680" y="4953960"/>
              <a:ext cx="20419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Decoupled Clean Architecture: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TextBox 34"/>
            <p:cNvSpPr/>
            <p:nvPr/>
          </p:nvSpPr>
          <p:spPr>
            <a:xfrm>
              <a:off x="995040" y="5190480"/>
              <a:ext cx="45140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6320" indent="-76320" defTabSz="457200">
                <a:lnSpc>
                  <a:spcPct val="100000"/>
                </a:lnSpc>
                <a:buClr>
                  <a:srgbClr val="64748b"/>
                </a:buClr>
                <a:buFont typeface="Symbol" charset="2"/>
                <a:buChar char=""/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Separation into Controller → Service → Repository layers for high testability.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TextBox 35"/>
            <p:cNvSpPr/>
            <p:nvPr/>
          </p:nvSpPr>
          <p:spPr>
            <a:xfrm>
              <a:off x="995040" y="5438160"/>
              <a:ext cx="47224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7c3aed"/>
                  </a:solidFill>
                  <a:effectLst/>
                  <a:uFillTx/>
                  <a:latin typeface="Times New Roman"/>
                  <a:ea typeface="Times New Roman"/>
                </a:rPr>
                <a:t>✓ Goal: Zero race conditions during simultaneous table &amp; delivery checkouts.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Rectangle 36"/>
            <p:cNvSpPr/>
            <p:nvPr/>
          </p:nvSpPr>
          <p:spPr>
            <a:xfrm>
              <a:off x="6286680" y="3714840"/>
              <a:ext cx="5143320" cy="223812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Rectangle 37"/>
            <p:cNvSpPr/>
            <p:nvPr/>
          </p:nvSpPr>
          <p:spPr>
            <a:xfrm>
              <a:off x="6286680" y="3714840"/>
              <a:ext cx="75960" cy="22381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Ellipse 38"/>
            <p:cNvSpPr/>
            <p:nvPr/>
          </p:nvSpPr>
          <p:spPr>
            <a:xfrm>
              <a:off x="6524640" y="3952800"/>
              <a:ext cx="380520" cy="380520"/>
            </a:xfrm>
            <a:prstGeom prst="ellipse">
              <a:avLst/>
            </a:prstGeom>
            <a:solidFill>
              <a:srgbClr val="fef3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TextBox 39"/>
            <p:cNvSpPr/>
            <p:nvPr/>
          </p:nvSpPr>
          <p:spPr>
            <a:xfrm>
              <a:off x="6663240" y="4072320"/>
              <a:ext cx="103680" cy="24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80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4</a:t>
              </a:r>
              <a:endParaRPr b="0" lang="en-US" sz="12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40"/>
            <p:cNvSpPr/>
            <p:nvPr/>
          </p:nvSpPr>
          <p:spPr>
            <a:xfrm>
              <a:off x="7088400" y="4029120"/>
              <a:ext cx="349884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Operational Intelligence &amp; Flexibility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TextBox 41"/>
            <p:cNvSpPr/>
            <p:nvPr/>
          </p:nvSpPr>
          <p:spPr>
            <a:xfrm>
              <a:off x="6519240" y="4477680"/>
              <a:ext cx="22053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Managerial Business Intelligence: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42"/>
            <p:cNvSpPr/>
            <p:nvPr/>
          </p:nvSpPr>
          <p:spPr>
            <a:xfrm>
              <a:off x="6519600" y="4714560"/>
              <a:ext cx="4291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6320" indent="-76320" defTabSz="457200">
                <a:lnSpc>
                  <a:spcPct val="100000"/>
                </a:lnSpc>
                <a:buClr>
                  <a:srgbClr val="64748b"/>
                </a:buClr>
                <a:buFont typeface="Symbol" charset="2"/>
                <a:buChar char=""/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Automated daily revenue tracking, best-seller analysis, and staff schedules.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TextBox 43"/>
            <p:cNvSpPr/>
            <p:nvPr/>
          </p:nvSpPr>
          <p:spPr>
            <a:xfrm>
              <a:off x="6519240" y="4953960"/>
              <a:ext cx="25786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Integrated Promotions &amp; Reservations: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TextBox 44"/>
            <p:cNvSpPr/>
            <p:nvPr/>
          </p:nvSpPr>
          <p:spPr>
            <a:xfrm>
              <a:off x="6519600" y="5190480"/>
              <a:ext cx="40442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6320" indent="-76320" defTabSz="457200">
                <a:lnSpc>
                  <a:spcPct val="100000"/>
                </a:lnSpc>
                <a:buClr>
                  <a:srgbClr val="64748b"/>
                </a:buClr>
                <a:buFont typeface="Symbol" charset="2"/>
                <a:buChar char=""/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Validation rules for discount coupons and conflict-free table bookings.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TextBox 45"/>
            <p:cNvSpPr/>
            <p:nvPr/>
          </p:nvSpPr>
          <p:spPr>
            <a:xfrm>
              <a:off x="6519600" y="5438160"/>
              <a:ext cx="38437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✓ Goal: Empower owners with real-time operational oversight.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9" name="footer"/>
          <p:cNvGrpSpPr/>
          <p:nvPr/>
        </p:nvGrpSpPr>
        <p:grpSpPr>
          <a:xfrm>
            <a:off x="757080" y="6238800"/>
            <a:ext cx="10677600" cy="342360"/>
            <a:chOff x="757080" y="6238800"/>
            <a:chExt cx="10677600" cy="342360"/>
          </a:xfrm>
        </p:grpSpPr>
        <p:sp>
          <p:nvSpPr>
            <p:cNvPr id="220" name="Line 47"/>
            <p:cNvSpPr/>
            <p:nvPr/>
          </p:nvSpPr>
          <p:spPr>
            <a:xfrm>
              <a:off x="762120" y="623880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TextBox 48"/>
            <p:cNvSpPr/>
            <p:nvPr/>
          </p:nvSpPr>
          <p:spPr>
            <a:xfrm>
              <a:off x="757080" y="6390720"/>
              <a:ext cx="4138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Graduation Thesis Defense: Full-Stack Restaurant Management System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TextBox 49"/>
            <p:cNvSpPr/>
            <p:nvPr/>
          </p:nvSpPr>
          <p:spPr>
            <a:xfrm>
              <a:off x="10686240" y="6390720"/>
              <a:ext cx="748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Slide 05 / 20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decorations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224" name="Line 2"/>
            <p:cNvSpPr/>
            <p:nvPr/>
          </p:nvSpPr>
          <p:spPr>
            <a:xfrm>
              <a:off x="762120" y="0"/>
              <a:ext cx="9000" cy="6857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Line 3"/>
            <p:cNvSpPr/>
            <p:nvPr/>
          </p:nvSpPr>
          <p:spPr>
            <a:xfrm>
              <a:off x="11430000" y="0"/>
              <a:ext cx="9000" cy="6857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Line 4"/>
            <p:cNvSpPr/>
            <p:nvPr/>
          </p:nvSpPr>
          <p:spPr>
            <a:xfrm>
              <a:off x="0" y="6095880"/>
              <a:ext cx="12191760" cy="900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7" name="accent-graphics"/>
          <p:cNvGrpSpPr/>
          <p:nvPr/>
        </p:nvGrpSpPr>
        <p:grpSpPr>
          <a:xfrm>
            <a:off x="762120" y="380880"/>
            <a:ext cx="11238840" cy="3619440"/>
            <a:chOff x="762120" y="380880"/>
            <a:chExt cx="11238840" cy="3619440"/>
          </a:xfrm>
        </p:grpSpPr>
        <p:sp>
          <p:nvSpPr>
            <p:cNvPr id="228" name="Rectangle 6"/>
            <p:cNvSpPr/>
            <p:nvPr/>
          </p:nvSpPr>
          <p:spPr>
            <a:xfrm>
              <a:off x="762120" y="2286000"/>
              <a:ext cx="75960" cy="17143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Ellipse 7"/>
            <p:cNvSpPr/>
            <p:nvPr/>
          </p:nvSpPr>
          <p:spPr>
            <a:xfrm>
              <a:off x="9334440" y="380880"/>
              <a:ext cx="2666520" cy="2666520"/>
            </a:xfrm>
            <a:prstGeom prst="ellipse">
              <a:avLst/>
            </a:prstGeom>
            <a:solidFill>
              <a:srgbClr val="1e293b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Ellipse 8"/>
            <p:cNvSpPr/>
            <p:nvPr/>
          </p:nvSpPr>
          <p:spPr>
            <a:xfrm>
              <a:off x="9810720" y="857160"/>
              <a:ext cx="1714320" cy="1714320"/>
            </a:xfrm>
            <a:prstGeom prst="ellipse">
              <a:avLst/>
            </a:prstGeom>
            <a:solidFill>
              <a:srgbClr val="0f172a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1" name="section-badge"/>
          <p:cNvGrpSpPr/>
          <p:nvPr/>
        </p:nvGrpSpPr>
        <p:grpSpPr>
          <a:xfrm>
            <a:off x="1143000" y="2095560"/>
            <a:ext cx="1428480" cy="323640"/>
            <a:chOff x="1143000" y="2095560"/>
            <a:chExt cx="1428480" cy="323640"/>
          </a:xfrm>
        </p:grpSpPr>
        <p:sp>
          <p:nvSpPr>
            <p:cNvPr id="232" name="Rectangle 10"/>
            <p:cNvSpPr/>
            <p:nvPr/>
          </p:nvSpPr>
          <p:spPr>
            <a:xfrm>
              <a:off x="1143000" y="2095560"/>
              <a:ext cx="1428480" cy="32364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 w="14288">
              <a:solidFill>
                <a:srgbClr val="d9770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TextBox 11"/>
            <p:cNvSpPr/>
            <p:nvPr/>
          </p:nvSpPr>
          <p:spPr>
            <a:xfrm>
              <a:off x="1272240" y="2191680"/>
              <a:ext cx="11700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050" spc="74" strike="noStrike" u="none">
                  <a:solidFill>
                    <a:srgbClr val="fbbf24"/>
                  </a:solidFill>
                  <a:effectLst/>
                  <a:uFillTx/>
                  <a:latin typeface="Times New Roman"/>
                  <a:ea typeface="Times New Roman"/>
                </a:rPr>
                <a:t>SECTION 02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4" name="section-content"/>
          <p:cNvGrpSpPr/>
          <p:nvPr/>
        </p:nvGrpSpPr>
        <p:grpSpPr>
          <a:xfrm>
            <a:off x="1126080" y="2691720"/>
            <a:ext cx="6188040" cy="1011240"/>
            <a:chOff x="1126080" y="2691720"/>
            <a:chExt cx="6188040" cy="1011240"/>
          </a:xfrm>
        </p:grpSpPr>
        <p:sp>
          <p:nvSpPr>
            <p:cNvPr id="235" name="TextBox 13"/>
            <p:cNvSpPr/>
            <p:nvPr/>
          </p:nvSpPr>
          <p:spPr>
            <a:xfrm>
              <a:off x="1126080" y="2691720"/>
              <a:ext cx="567072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33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System Design &amp; Overview</a:t>
              </a:r>
              <a:endPara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TextBox 14"/>
            <p:cNvSpPr/>
            <p:nvPr/>
          </p:nvSpPr>
          <p:spPr>
            <a:xfrm>
              <a:off x="1135440" y="3409920"/>
              <a:ext cx="617868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50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Layered Architectural Pattern, Actor Coordination, and Data Pipelines</a:t>
              </a:r>
              <a:endPara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7" name="footer"/>
          <p:cNvGrpSpPr/>
          <p:nvPr/>
        </p:nvGrpSpPr>
        <p:grpSpPr>
          <a:xfrm>
            <a:off x="1137600" y="6220800"/>
            <a:ext cx="9916560" cy="204840"/>
            <a:chOff x="1137600" y="6220800"/>
            <a:chExt cx="9916560" cy="204840"/>
          </a:xfrm>
        </p:grpSpPr>
        <p:sp>
          <p:nvSpPr>
            <p:cNvPr id="238" name="TextBox 16"/>
            <p:cNvSpPr/>
            <p:nvPr/>
          </p:nvSpPr>
          <p:spPr>
            <a:xfrm>
              <a:off x="1137600" y="6220800"/>
              <a:ext cx="40154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Restaurant Management System | Graduation Thesis Presentation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TextBox 17"/>
            <p:cNvSpPr/>
            <p:nvPr/>
          </p:nvSpPr>
          <p:spPr>
            <a:xfrm>
              <a:off x="10252080" y="6220800"/>
              <a:ext cx="8020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Slide 06 / 20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header"/>
          <p:cNvGrpSpPr/>
          <p:nvPr/>
        </p:nvGrpSpPr>
        <p:grpSpPr>
          <a:xfrm>
            <a:off x="750600" y="542520"/>
            <a:ext cx="10679040" cy="644760"/>
            <a:chOff x="750600" y="542520"/>
            <a:chExt cx="10679040" cy="644760"/>
          </a:xfrm>
        </p:grpSpPr>
        <p:sp>
          <p:nvSpPr>
            <p:cNvPr id="241" name="TextBox 2"/>
            <p:cNvSpPr/>
            <p:nvPr/>
          </p:nvSpPr>
          <p:spPr>
            <a:xfrm>
              <a:off x="757080" y="542520"/>
              <a:ext cx="46468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pc="74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02. SYSTEM DESIGN | ARCHITECTURAL PATTERN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TextBox 3"/>
            <p:cNvSpPr/>
            <p:nvPr/>
          </p:nvSpPr>
          <p:spPr>
            <a:xfrm>
              <a:off x="750600" y="747720"/>
              <a:ext cx="557964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2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Decoupled 4-Tier Layered Architecture</a:t>
              </a:r>
              <a:endParaRPr b="0" lang="en-US" sz="22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Line 4"/>
            <p:cNvSpPr/>
            <p:nvPr/>
          </p:nvSpPr>
          <p:spPr>
            <a:xfrm>
              <a:off x="762120" y="116208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4" name="tiers-stack"/>
          <p:cNvGrpSpPr/>
          <p:nvPr/>
        </p:nvGrpSpPr>
        <p:grpSpPr>
          <a:xfrm>
            <a:off x="568800" y="1380960"/>
            <a:ext cx="10860840" cy="4714560"/>
            <a:chOff x="568800" y="1380960"/>
            <a:chExt cx="10860840" cy="4714560"/>
          </a:xfrm>
        </p:grpSpPr>
        <p:sp>
          <p:nvSpPr>
            <p:cNvPr id="245" name="Rectangle 6"/>
            <p:cNvSpPr/>
            <p:nvPr/>
          </p:nvSpPr>
          <p:spPr>
            <a:xfrm>
              <a:off x="762120" y="1380960"/>
              <a:ext cx="10667520" cy="99972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9050">
              <a:solidFill>
                <a:srgbClr val="0284c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Rectangle 7"/>
            <p:cNvSpPr/>
            <p:nvPr/>
          </p:nvSpPr>
          <p:spPr>
            <a:xfrm>
              <a:off x="762120" y="1380960"/>
              <a:ext cx="2095200" cy="999720"/>
            </a:xfrm>
            <a:prstGeom prst="roundRect">
              <a:avLst>
                <a:gd name="adj" fmla="val 7619"/>
              </a:avLst>
            </a:prstGeom>
            <a:solidFill>
              <a:srgbClr val="0284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TextBox 8"/>
            <p:cNvSpPr/>
            <p:nvPr/>
          </p:nvSpPr>
          <p:spPr>
            <a:xfrm>
              <a:off x="568800" y="1663920"/>
              <a:ext cx="24818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PRESENTATION TIER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TextBox 9"/>
            <p:cNvSpPr/>
            <p:nvPr/>
          </p:nvSpPr>
          <p:spPr>
            <a:xfrm>
              <a:off x="1150920" y="1942560"/>
              <a:ext cx="13176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e0f2fe"/>
                  </a:solidFill>
                  <a:effectLst/>
                  <a:uFillTx/>
                  <a:latin typeface="Times New Roman"/>
                  <a:ea typeface="Times New Roman"/>
                </a:rPr>
                <a:t>Client-Side (React 19)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TextBox 10"/>
            <p:cNvSpPr/>
            <p:nvPr/>
          </p:nvSpPr>
          <p:spPr>
            <a:xfrm>
              <a:off x="3137040" y="1632600"/>
              <a:ext cx="4566960" cy="23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Single-Page Application (SPA) • Vite 7.2 • Tailwind CSS v4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TextBox 11"/>
            <p:cNvSpPr/>
            <p:nvPr/>
          </p:nvSpPr>
          <p:spPr>
            <a:xfrm>
              <a:off x="3137760" y="1886760"/>
              <a:ext cx="54090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effectLst/>
                  <a:uFillTx/>
                  <a:latin typeface="Times New Roman"/>
                  <a:ea typeface="Times New Roman"/>
                </a:rPr>
                <a:t>Role-based routing (5 portals) • TanStack Query Cache • Centralized Axios Interceptors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Rectangle 12"/>
            <p:cNvSpPr/>
            <p:nvPr/>
          </p:nvSpPr>
          <p:spPr>
            <a:xfrm>
              <a:off x="9906120" y="1666800"/>
              <a:ext cx="1333080" cy="333000"/>
            </a:xfrm>
            <a:prstGeom prst="roundRect">
              <a:avLst>
                <a:gd name="adj" fmla="val 17143"/>
              </a:avLst>
            </a:prstGeom>
            <a:solidFill>
              <a:srgbClr val="f0f9ff"/>
            </a:solidFill>
            <a:ln w="9525">
              <a:solidFill>
                <a:srgbClr val="bae6f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TextBox 13"/>
            <p:cNvSpPr/>
            <p:nvPr/>
          </p:nvSpPr>
          <p:spPr>
            <a:xfrm>
              <a:off x="9866160" y="1788840"/>
              <a:ext cx="1413000" cy="1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00" strike="noStrike" u="none">
                  <a:solidFill>
                    <a:srgbClr val="0369a1"/>
                  </a:solidFill>
                  <a:effectLst/>
                  <a:uFillTx/>
                  <a:latin typeface="Times New Roman"/>
                  <a:ea typeface="Times New Roman"/>
                </a:rPr>
                <a:t>HTTPS / JSON DTO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Line 14"/>
            <p:cNvSpPr/>
            <p:nvPr/>
          </p:nvSpPr>
          <p:spPr>
            <a:xfrm>
              <a:off x="6095880" y="2381400"/>
              <a:ext cx="9000" cy="171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71000"/>
                <a:gd name="textAreaBottom" fmla="*/ 171360 h 171000"/>
              </a:gdLst>
              <a:ahLst/>
              <a:cxnLst/>
              <a:rect l="textAreaLeft" t="textAreaTop" r="textAreaRight" b="textAreaBottom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64748b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Polygon 15"/>
            <p:cNvSpPr/>
            <p:nvPr/>
          </p:nvSpPr>
          <p:spPr>
            <a:xfrm>
              <a:off x="6058080" y="2552760"/>
              <a:ext cx="75960" cy="5688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56880"/>
                <a:gd name="textAreaBottom" fmla="*/ 57240 h 56880"/>
              </a:gdLst>
              <a:ahLst/>
              <a:cxnLst/>
              <a:rect l="textAreaLeft" t="textAreaTop" r="textAreaRight" b="textAreaBottom"/>
              <a:pathLst>
                <a:path w="76200" h="57150">
                  <a:moveTo>
                    <a:pt x="0" y="0"/>
                  </a:moveTo>
                  <a:lnTo>
                    <a:pt x="76200" y="0"/>
                  </a:lnTo>
                  <a:lnTo>
                    <a:pt x="38100" y="57150"/>
                  </a:lnTo>
                  <a:close/>
                </a:path>
              </a:pathLst>
            </a:custGeom>
            <a:solidFill>
              <a:srgbClr val="6474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240" bIns="122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Rectangle 16"/>
            <p:cNvSpPr/>
            <p:nvPr/>
          </p:nvSpPr>
          <p:spPr>
            <a:xfrm>
              <a:off x="762120" y="2619360"/>
              <a:ext cx="10667520" cy="99972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9050">
              <a:solidFill>
                <a:srgbClr val="05966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Rectangle 17"/>
            <p:cNvSpPr/>
            <p:nvPr/>
          </p:nvSpPr>
          <p:spPr>
            <a:xfrm>
              <a:off x="762120" y="2619360"/>
              <a:ext cx="2095200" cy="999720"/>
            </a:xfrm>
            <a:prstGeom prst="roundRect">
              <a:avLst>
                <a:gd name="adj" fmla="val 7619"/>
              </a:avLst>
            </a:prstGeom>
            <a:solidFill>
              <a:srgbClr val="0596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TextBox 18"/>
            <p:cNvSpPr/>
            <p:nvPr/>
          </p:nvSpPr>
          <p:spPr>
            <a:xfrm>
              <a:off x="659520" y="2902320"/>
              <a:ext cx="23004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CONTROLLER TIER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TextBox 19"/>
            <p:cNvSpPr/>
            <p:nvPr/>
          </p:nvSpPr>
          <p:spPr>
            <a:xfrm>
              <a:off x="1092960" y="3180960"/>
              <a:ext cx="14331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d1fae5"/>
                  </a:solidFill>
                  <a:effectLst/>
                  <a:uFillTx/>
                  <a:latin typeface="Times New Roman"/>
                  <a:ea typeface="Times New Roman"/>
                </a:rPr>
                <a:t>API Routing (FastAPI)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TextBox 20"/>
            <p:cNvSpPr/>
            <p:nvPr/>
          </p:nvSpPr>
          <p:spPr>
            <a:xfrm>
              <a:off x="3137040" y="2871000"/>
              <a:ext cx="5371920" cy="23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14 Modular API Routers • Pydantic v2 DTOs • Uvicorn ASGI Server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TextBox 21"/>
            <p:cNvSpPr/>
            <p:nvPr/>
          </p:nvSpPr>
          <p:spPr>
            <a:xfrm>
              <a:off x="3137760" y="3125160"/>
              <a:ext cx="60350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effectLst/>
                  <a:uFillTx/>
                  <a:latin typeface="Times New Roman"/>
                  <a:ea typeface="Times New Roman"/>
                </a:rPr>
                <a:t>HTTP request validation • JWT Bearer Authentication • RBAC Dependencies • OpenAPI Docs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Rectangle 22"/>
            <p:cNvSpPr/>
            <p:nvPr/>
          </p:nvSpPr>
          <p:spPr>
            <a:xfrm>
              <a:off x="9906120" y="2905200"/>
              <a:ext cx="1333080" cy="333000"/>
            </a:xfrm>
            <a:prstGeom prst="roundRect">
              <a:avLst>
                <a:gd name="adj" fmla="val 17143"/>
              </a:avLst>
            </a:prstGeom>
            <a:solidFill>
              <a:srgbClr val="ecfdf5"/>
            </a:solidFill>
            <a:ln w="9525">
              <a:solidFill>
                <a:srgbClr val="a7f3d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TextBox 23"/>
            <p:cNvSpPr/>
            <p:nvPr/>
          </p:nvSpPr>
          <p:spPr>
            <a:xfrm>
              <a:off x="9997560" y="3026880"/>
              <a:ext cx="1149840" cy="1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00" strike="noStrike" u="none">
                  <a:solidFill>
                    <a:srgbClr val="065f46"/>
                  </a:solidFill>
                  <a:effectLst/>
                  <a:uFillTx/>
                  <a:latin typeface="Times New Roman"/>
                  <a:ea typeface="Times New Roman"/>
                </a:rPr>
                <a:t>Clean DTO Models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Line 24"/>
            <p:cNvSpPr/>
            <p:nvPr/>
          </p:nvSpPr>
          <p:spPr>
            <a:xfrm>
              <a:off x="6095880" y="3619440"/>
              <a:ext cx="9000" cy="171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71000"/>
                <a:gd name="textAreaBottom" fmla="*/ 171360 h 171000"/>
              </a:gdLst>
              <a:ahLst/>
              <a:cxnLst/>
              <a:rect l="textAreaLeft" t="textAreaTop" r="textAreaRight" b="textAreaBottom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64748b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Polygon 25"/>
            <p:cNvSpPr/>
            <p:nvPr/>
          </p:nvSpPr>
          <p:spPr>
            <a:xfrm>
              <a:off x="6058080" y="3790800"/>
              <a:ext cx="75960" cy="5688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56880"/>
                <a:gd name="textAreaBottom" fmla="*/ 57240 h 56880"/>
              </a:gdLst>
              <a:ahLst/>
              <a:cxnLst/>
              <a:rect l="textAreaLeft" t="textAreaTop" r="textAreaRight" b="textAreaBottom"/>
              <a:pathLst>
                <a:path w="76200" h="57150">
                  <a:moveTo>
                    <a:pt x="0" y="0"/>
                  </a:moveTo>
                  <a:lnTo>
                    <a:pt x="76200" y="0"/>
                  </a:lnTo>
                  <a:lnTo>
                    <a:pt x="38100" y="57150"/>
                  </a:lnTo>
                  <a:close/>
                </a:path>
              </a:pathLst>
            </a:custGeom>
            <a:solidFill>
              <a:srgbClr val="6474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240" bIns="122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Rectangle 26"/>
            <p:cNvSpPr/>
            <p:nvPr/>
          </p:nvSpPr>
          <p:spPr>
            <a:xfrm>
              <a:off x="762120" y="3857760"/>
              <a:ext cx="10667520" cy="99972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Rectangle 27"/>
            <p:cNvSpPr/>
            <p:nvPr/>
          </p:nvSpPr>
          <p:spPr>
            <a:xfrm>
              <a:off x="762120" y="3857760"/>
              <a:ext cx="2095200" cy="999720"/>
            </a:xfrm>
            <a:prstGeom prst="roundRect">
              <a:avLst>
                <a:gd name="adj" fmla="val 7619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TextBox 28"/>
            <p:cNvSpPr/>
            <p:nvPr/>
          </p:nvSpPr>
          <p:spPr>
            <a:xfrm>
              <a:off x="970200" y="4140360"/>
              <a:ext cx="16786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SERVICE TIER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TextBox 29"/>
            <p:cNvSpPr/>
            <p:nvPr/>
          </p:nvSpPr>
          <p:spPr>
            <a:xfrm>
              <a:off x="1202040" y="4419000"/>
              <a:ext cx="12150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fef3c7"/>
                  </a:solidFill>
                  <a:effectLst/>
                  <a:uFillTx/>
                  <a:latin typeface="Times New Roman"/>
                  <a:ea typeface="Times New Roman"/>
                </a:rPr>
                <a:t>Business Logic Core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TextBox 30"/>
            <p:cNvSpPr/>
            <p:nvPr/>
          </p:nvSpPr>
          <p:spPr>
            <a:xfrm>
              <a:off x="3137040" y="4109040"/>
              <a:ext cx="4988160" cy="23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16 Dedicated Domain Services • Business Rules &amp; State Validation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TextBox 31"/>
            <p:cNvSpPr/>
            <p:nvPr/>
          </p:nvSpPr>
          <p:spPr>
            <a:xfrm>
              <a:off x="3137760" y="4363560"/>
              <a:ext cx="61664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effectLst/>
                  <a:uFillTx/>
                  <a:latin typeface="Times New Roman"/>
                  <a:ea typeface="Times New Roman"/>
                </a:rPr>
                <a:t>Order State Machine (Pending → Cooking → Delivered) • Discount Engine • Table Conflict Check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Rectangle 32"/>
            <p:cNvSpPr/>
            <p:nvPr/>
          </p:nvSpPr>
          <p:spPr>
            <a:xfrm>
              <a:off x="9906120" y="4143240"/>
              <a:ext cx="1333080" cy="333000"/>
            </a:xfrm>
            <a:prstGeom prst="roundRect">
              <a:avLst>
                <a:gd name="adj" fmla="val 17143"/>
              </a:avLst>
            </a:prstGeom>
            <a:solidFill>
              <a:srgbClr val="fffbeb"/>
            </a:solidFill>
            <a:ln w="9525">
              <a:solidFill>
                <a:srgbClr val="fde68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TextBox 33"/>
            <p:cNvSpPr/>
            <p:nvPr/>
          </p:nvSpPr>
          <p:spPr>
            <a:xfrm>
              <a:off x="10167120" y="4265280"/>
              <a:ext cx="810720" cy="1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00" strike="noStrike" u="none">
                  <a:solidFill>
                    <a:srgbClr val="92400e"/>
                  </a:solidFill>
                  <a:effectLst/>
                  <a:uFillTx/>
                  <a:latin typeface="Times New Roman"/>
                  <a:ea typeface="Times New Roman"/>
                </a:rPr>
                <a:t>Domain Logic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Line 34"/>
            <p:cNvSpPr/>
            <p:nvPr/>
          </p:nvSpPr>
          <p:spPr>
            <a:xfrm>
              <a:off x="6095880" y="4857840"/>
              <a:ext cx="9000" cy="171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71000"/>
                <a:gd name="textAreaBottom" fmla="*/ 171360 h 171000"/>
              </a:gdLst>
              <a:ahLst/>
              <a:cxnLst/>
              <a:rect l="textAreaLeft" t="textAreaTop" r="textAreaRight" b="textAreaBottom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64748b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Polygon 35"/>
            <p:cNvSpPr/>
            <p:nvPr/>
          </p:nvSpPr>
          <p:spPr>
            <a:xfrm>
              <a:off x="6058080" y="5029200"/>
              <a:ext cx="75960" cy="5688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56880"/>
                <a:gd name="textAreaBottom" fmla="*/ 57240 h 56880"/>
              </a:gdLst>
              <a:ahLst/>
              <a:cxnLst/>
              <a:rect l="textAreaLeft" t="textAreaTop" r="textAreaRight" b="textAreaBottom"/>
              <a:pathLst>
                <a:path w="76200" h="57150">
                  <a:moveTo>
                    <a:pt x="0" y="0"/>
                  </a:moveTo>
                  <a:lnTo>
                    <a:pt x="76200" y="0"/>
                  </a:lnTo>
                  <a:lnTo>
                    <a:pt x="38100" y="57150"/>
                  </a:lnTo>
                  <a:close/>
                </a:path>
              </a:pathLst>
            </a:custGeom>
            <a:solidFill>
              <a:srgbClr val="6474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2240" bIns="122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Rectangle 36"/>
            <p:cNvSpPr/>
            <p:nvPr/>
          </p:nvSpPr>
          <p:spPr>
            <a:xfrm>
              <a:off x="762120" y="5095800"/>
              <a:ext cx="10667520" cy="99972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19050">
              <a:solidFill>
                <a:srgbClr val="7c3a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Rectangle 37"/>
            <p:cNvSpPr/>
            <p:nvPr/>
          </p:nvSpPr>
          <p:spPr>
            <a:xfrm>
              <a:off x="762120" y="5095800"/>
              <a:ext cx="2095200" cy="999720"/>
            </a:xfrm>
            <a:prstGeom prst="roundRect">
              <a:avLst>
                <a:gd name="adj" fmla="val 7619"/>
              </a:avLst>
            </a:prstGeom>
            <a:solidFill>
              <a:srgbClr val="7c3a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TextBox 38"/>
            <p:cNvSpPr/>
            <p:nvPr/>
          </p:nvSpPr>
          <p:spPr>
            <a:xfrm>
              <a:off x="678600" y="5378760"/>
              <a:ext cx="22615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PERSISTENCE TIER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TextBox 39"/>
            <p:cNvSpPr/>
            <p:nvPr/>
          </p:nvSpPr>
          <p:spPr>
            <a:xfrm>
              <a:off x="1029600" y="5657400"/>
              <a:ext cx="15598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ede9fe"/>
                  </a:solidFill>
                  <a:effectLst/>
                  <a:uFillTx/>
                  <a:latin typeface="Times New Roman"/>
                  <a:ea typeface="Times New Roman"/>
                </a:rPr>
                <a:t>Repository &amp; PostgreSQL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TextBox 40"/>
            <p:cNvSpPr/>
            <p:nvPr/>
          </p:nvSpPr>
          <p:spPr>
            <a:xfrm>
              <a:off x="3137040" y="5347440"/>
              <a:ext cx="5969160" cy="23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15 SQLAlchemy Repositories • Unit-of-Work Pattern • PostgreSQL RDBMS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TextBox 41"/>
            <p:cNvSpPr/>
            <p:nvPr/>
          </p:nvSpPr>
          <p:spPr>
            <a:xfrm>
              <a:off x="3137760" y="5601600"/>
              <a:ext cx="56865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effectLst/>
                  <a:uFillTx/>
                  <a:latin typeface="Times New Roman"/>
                  <a:ea typeface="Times New Roman"/>
                </a:rPr>
                <a:t>17 Relational ORM Entities • Psycopg2 Driver • ACID Transactions • Alembic Migrations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Rectangle 42"/>
            <p:cNvSpPr/>
            <p:nvPr/>
          </p:nvSpPr>
          <p:spPr>
            <a:xfrm>
              <a:off x="9906120" y="5381640"/>
              <a:ext cx="1333080" cy="333000"/>
            </a:xfrm>
            <a:prstGeom prst="roundRect">
              <a:avLst>
                <a:gd name="adj" fmla="val 17143"/>
              </a:avLst>
            </a:prstGeom>
            <a:solidFill>
              <a:srgbClr val="f5f3ff"/>
            </a:solidFill>
            <a:ln w="9525">
              <a:solidFill>
                <a:srgbClr val="ddd6f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TextBox 43"/>
            <p:cNvSpPr/>
            <p:nvPr/>
          </p:nvSpPr>
          <p:spPr>
            <a:xfrm>
              <a:off x="10062360" y="5503680"/>
              <a:ext cx="1020600" cy="1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00" strike="noStrike" u="none">
                  <a:solidFill>
                    <a:srgbClr val="5b21b6"/>
                  </a:solidFill>
                  <a:effectLst/>
                  <a:uFillTx/>
                  <a:latin typeface="Times New Roman"/>
                  <a:ea typeface="Times New Roman"/>
                </a:rPr>
                <a:t>SQLAlchemy 2.0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3" name="footer"/>
          <p:cNvGrpSpPr/>
          <p:nvPr/>
        </p:nvGrpSpPr>
        <p:grpSpPr>
          <a:xfrm>
            <a:off x="757080" y="6238800"/>
            <a:ext cx="10677600" cy="342360"/>
            <a:chOff x="757080" y="6238800"/>
            <a:chExt cx="10677600" cy="342360"/>
          </a:xfrm>
        </p:grpSpPr>
        <p:sp>
          <p:nvSpPr>
            <p:cNvPr id="284" name="Line 45"/>
            <p:cNvSpPr/>
            <p:nvPr/>
          </p:nvSpPr>
          <p:spPr>
            <a:xfrm>
              <a:off x="762120" y="623880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TextBox 46"/>
            <p:cNvSpPr/>
            <p:nvPr/>
          </p:nvSpPr>
          <p:spPr>
            <a:xfrm>
              <a:off x="757080" y="6390720"/>
              <a:ext cx="4138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Graduation Thesis Defense: Full-Stack Restaurant Management System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TextBox 47"/>
            <p:cNvSpPr/>
            <p:nvPr/>
          </p:nvSpPr>
          <p:spPr>
            <a:xfrm>
              <a:off x="10686240" y="6390720"/>
              <a:ext cx="748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Slide 07 / 20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header"/>
          <p:cNvGrpSpPr/>
          <p:nvPr/>
        </p:nvGrpSpPr>
        <p:grpSpPr>
          <a:xfrm>
            <a:off x="750600" y="542520"/>
            <a:ext cx="10679040" cy="628560"/>
            <a:chOff x="750600" y="542520"/>
            <a:chExt cx="10679040" cy="628560"/>
          </a:xfrm>
        </p:grpSpPr>
        <p:sp>
          <p:nvSpPr>
            <p:cNvPr id="288" name="TextBox 2"/>
            <p:cNvSpPr/>
            <p:nvPr/>
          </p:nvSpPr>
          <p:spPr>
            <a:xfrm>
              <a:off x="757080" y="542520"/>
              <a:ext cx="41155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pc="74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02. SYSTEM DESIGN | OPERATIONAL ROLES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TextBox 3"/>
            <p:cNvSpPr/>
            <p:nvPr/>
          </p:nvSpPr>
          <p:spPr>
            <a:xfrm>
              <a:off x="750600" y="747720"/>
              <a:ext cx="6764760" cy="34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2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Multi-Role Operational Ecosystem and Responsibilities</a:t>
              </a:r>
              <a:endParaRPr b="0" lang="en-US" sz="22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Line 4"/>
            <p:cNvSpPr/>
            <p:nvPr/>
          </p:nvSpPr>
          <p:spPr>
            <a:xfrm>
              <a:off x="762120" y="116208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1" name="roles-container"/>
          <p:cNvGrpSpPr/>
          <p:nvPr/>
        </p:nvGrpSpPr>
        <p:grpSpPr>
          <a:xfrm>
            <a:off x="762120" y="1428840"/>
            <a:ext cx="10667520" cy="4524120"/>
            <a:chOff x="762120" y="1428840"/>
            <a:chExt cx="10667520" cy="4524120"/>
          </a:xfrm>
        </p:grpSpPr>
        <p:sp>
          <p:nvSpPr>
            <p:cNvPr id="292" name="Rectangle 6"/>
            <p:cNvSpPr/>
            <p:nvPr/>
          </p:nvSpPr>
          <p:spPr>
            <a:xfrm>
              <a:off x="762120" y="1428840"/>
              <a:ext cx="1999800" cy="452412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Rectangle 7"/>
            <p:cNvSpPr/>
            <p:nvPr/>
          </p:nvSpPr>
          <p:spPr>
            <a:xfrm>
              <a:off x="762120" y="1428840"/>
              <a:ext cx="1999800" cy="7596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Ellipse 8"/>
            <p:cNvSpPr/>
            <p:nvPr/>
          </p:nvSpPr>
          <p:spPr>
            <a:xfrm>
              <a:off x="1533600" y="1628640"/>
              <a:ext cx="456840" cy="456840"/>
            </a:xfrm>
            <a:prstGeom prst="ellipse">
              <a:avLst/>
            </a:prstGeom>
            <a:solidFill>
              <a:srgbClr val="e0f2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TextBox 9"/>
            <p:cNvSpPr/>
            <p:nvPr/>
          </p:nvSpPr>
          <p:spPr>
            <a:xfrm>
              <a:off x="1479600" y="1803960"/>
              <a:ext cx="564840" cy="23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rgbClr val="0284c7"/>
                  </a:solidFill>
                  <a:effectLst/>
                  <a:uFillTx/>
                  <a:latin typeface="Times New Roman"/>
                  <a:ea typeface="Times New Roman"/>
                </a:rPr>
                <a:t>CUST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TextBox 10"/>
            <p:cNvSpPr/>
            <p:nvPr/>
          </p:nvSpPr>
          <p:spPr>
            <a:xfrm>
              <a:off x="1339200" y="2187720"/>
              <a:ext cx="8456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Customer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TextBox 11"/>
            <p:cNvSpPr/>
            <p:nvPr/>
          </p:nvSpPr>
          <p:spPr>
            <a:xfrm>
              <a:off x="1091160" y="2447280"/>
              <a:ext cx="13417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On-Premise &amp; Remote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Line 12"/>
            <p:cNvSpPr/>
            <p:nvPr/>
          </p:nvSpPr>
          <p:spPr>
            <a:xfrm>
              <a:off x="905040" y="2714760"/>
              <a:ext cx="1714320" cy="9000"/>
            </a:xfrm>
            <a:custGeom>
              <a:avLst/>
              <a:gdLst>
                <a:gd name="textAreaLeft" fmla="*/ 0 w 1714320"/>
                <a:gd name="textAreaRight" fmla="*/ 1714680 w 17143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TextBox 13"/>
            <p:cNvSpPr/>
            <p:nvPr/>
          </p:nvSpPr>
          <p:spPr>
            <a:xfrm>
              <a:off x="899640" y="2887200"/>
              <a:ext cx="11948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Menu Browsing: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0" name="TextBox 14"/>
            <p:cNvSpPr/>
            <p:nvPr/>
          </p:nvSpPr>
          <p:spPr>
            <a:xfrm>
              <a:off x="900000" y="3085560"/>
              <a:ext cx="13629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Category search, prices,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TextBox 15"/>
            <p:cNvSpPr/>
            <p:nvPr/>
          </p:nvSpPr>
          <p:spPr>
            <a:xfrm>
              <a:off x="900000" y="3256920"/>
              <a:ext cx="12052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and dietary allergens.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TextBox 16"/>
            <p:cNvSpPr/>
            <p:nvPr/>
          </p:nvSpPr>
          <p:spPr>
            <a:xfrm>
              <a:off x="899640" y="3553920"/>
              <a:ext cx="14637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QR Dine-in &amp; Cart: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TextBox 17"/>
            <p:cNvSpPr/>
            <p:nvPr/>
          </p:nvSpPr>
          <p:spPr>
            <a:xfrm>
              <a:off x="900000" y="3752280"/>
              <a:ext cx="1273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Instant table scanning,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TextBox 18"/>
            <p:cNvSpPr/>
            <p:nvPr/>
          </p:nvSpPr>
          <p:spPr>
            <a:xfrm>
              <a:off x="900000" y="3924000"/>
              <a:ext cx="10738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persisted cart state.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TextBox 19"/>
            <p:cNvSpPr/>
            <p:nvPr/>
          </p:nvSpPr>
          <p:spPr>
            <a:xfrm>
              <a:off x="899640" y="4220640"/>
              <a:ext cx="13471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Delivery &amp; Rating: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TextBox 20"/>
            <p:cNvSpPr/>
            <p:nvPr/>
          </p:nvSpPr>
          <p:spPr>
            <a:xfrm>
              <a:off x="900000" y="4419000"/>
              <a:ext cx="1336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Shipping address input,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TextBox 21"/>
            <p:cNvSpPr/>
            <p:nvPr/>
          </p:nvSpPr>
          <p:spPr>
            <a:xfrm>
              <a:off x="900000" y="4590720"/>
              <a:ext cx="12481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live tracking, reviews.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Rectangle 22"/>
            <p:cNvSpPr/>
            <p:nvPr/>
          </p:nvSpPr>
          <p:spPr>
            <a:xfrm>
              <a:off x="905040" y="5381640"/>
              <a:ext cx="1714320" cy="333000"/>
            </a:xfrm>
            <a:prstGeom prst="roundRect">
              <a:avLst>
                <a:gd name="adj" fmla="val 17143"/>
              </a:avLst>
            </a:prstGeom>
            <a:solidFill>
              <a:srgbClr val="f0f9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TextBox 23"/>
            <p:cNvSpPr/>
            <p:nvPr/>
          </p:nvSpPr>
          <p:spPr>
            <a:xfrm>
              <a:off x="1286640" y="5503680"/>
              <a:ext cx="950760" cy="1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00" strike="noStrike" u="none">
                  <a:solidFill>
                    <a:srgbClr val="0369a1"/>
                  </a:solidFill>
                  <a:effectLst/>
                  <a:uFillTx/>
                  <a:latin typeface="Times New Roman"/>
                  <a:ea typeface="Times New Roman"/>
                </a:rPr>
                <a:t>Customer Portal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Rectangle 24"/>
            <p:cNvSpPr/>
            <p:nvPr/>
          </p:nvSpPr>
          <p:spPr>
            <a:xfrm>
              <a:off x="2924280" y="1428840"/>
              <a:ext cx="1999800" cy="452412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Rectangle 25"/>
            <p:cNvSpPr/>
            <p:nvPr/>
          </p:nvSpPr>
          <p:spPr>
            <a:xfrm>
              <a:off x="2924280" y="1428840"/>
              <a:ext cx="1999800" cy="7596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Ellipse 26"/>
            <p:cNvSpPr/>
            <p:nvPr/>
          </p:nvSpPr>
          <p:spPr>
            <a:xfrm>
              <a:off x="3695760" y="1628640"/>
              <a:ext cx="456840" cy="456840"/>
            </a:xfrm>
            <a:prstGeom prst="ellipse">
              <a:avLst/>
            </a:prstGeom>
            <a:solidFill>
              <a:srgbClr val="d1fa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TextBox 27"/>
            <p:cNvSpPr/>
            <p:nvPr/>
          </p:nvSpPr>
          <p:spPr>
            <a:xfrm>
              <a:off x="3630240" y="1803960"/>
              <a:ext cx="587520" cy="23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rgbClr val="059669"/>
                  </a:solidFill>
                  <a:effectLst/>
                  <a:uFillTx/>
                  <a:latin typeface="Times New Roman"/>
                  <a:ea typeface="Times New Roman"/>
                </a:rPr>
                <a:t>WAIT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TextBox 28"/>
            <p:cNvSpPr/>
            <p:nvPr/>
          </p:nvSpPr>
          <p:spPr>
            <a:xfrm>
              <a:off x="3619440" y="2187720"/>
              <a:ext cx="6098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Waiter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TextBox 29"/>
            <p:cNvSpPr/>
            <p:nvPr/>
          </p:nvSpPr>
          <p:spPr>
            <a:xfrm>
              <a:off x="3431520" y="2447280"/>
              <a:ext cx="985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Floor Operations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Line 30"/>
            <p:cNvSpPr/>
            <p:nvPr/>
          </p:nvSpPr>
          <p:spPr>
            <a:xfrm>
              <a:off x="3067200" y="2714760"/>
              <a:ext cx="1714320" cy="9000"/>
            </a:xfrm>
            <a:custGeom>
              <a:avLst/>
              <a:gdLst>
                <a:gd name="textAreaLeft" fmla="*/ 0 w 1714320"/>
                <a:gd name="textAreaRight" fmla="*/ 1714680 w 17143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TextBox 31"/>
            <p:cNvSpPr/>
            <p:nvPr/>
          </p:nvSpPr>
          <p:spPr>
            <a:xfrm>
              <a:off x="3061800" y="2887200"/>
              <a:ext cx="14173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Table Management: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TextBox 32"/>
            <p:cNvSpPr/>
            <p:nvPr/>
          </p:nvSpPr>
          <p:spPr>
            <a:xfrm>
              <a:off x="3062160" y="3085560"/>
              <a:ext cx="11469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Monitor occupancy,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TextBox 33"/>
            <p:cNvSpPr/>
            <p:nvPr/>
          </p:nvSpPr>
          <p:spPr>
            <a:xfrm>
              <a:off x="3062160" y="3256920"/>
              <a:ext cx="1426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turnover &amp; seated guests.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TextBox 34"/>
            <p:cNvSpPr/>
            <p:nvPr/>
          </p:nvSpPr>
          <p:spPr>
            <a:xfrm>
              <a:off x="3061800" y="3553920"/>
              <a:ext cx="12722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Order Assistance: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TextBox 35"/>
            <p:cNvSpPr/>
            <p:nvPr/>
          </p:nvSpPr>
          <p:spPr>
            <a:xfrm>
              <a:off x="3062160" y="3752280"/>
              <a:ext cx="11822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Take walk-in orders,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TextBox 36"/>
            <p:cNvSpPr/>
            <p:nvPr/>
          </p:nvSpPr>
          <p:spPr>
            <a:xfrm>
              <a:off x="3062160" y="3924000"/>
              <a:ext cx="12132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modify active tickets.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TextBox 37"/>
            <p:cNvSpPr/>
            <p:nvPr/>
          </p:nvSpPr>
          <p:spPr>
            <a:xfrm>
              <a:off x="3061800" y="4220640"/>
              <a:ext cx="12380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Serving Delivery: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TextBox 38"/>
            <p:cNvSpPr/>
            <p:nvPr/>
          </p:nvSpPr>
          <p:spPr>
            <a:xfrm>
              <a:off x="3062160" y="4419000"/>
              <a:ext cx="13748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Serve food once kitchen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TextBox 39"/>
            <p:cNvSpPr/>
            <p:nvPr/>
          </p:nvSpPr>
          <p:spPr>
            <a:xfrm>
              <a:off x="3062160" y="4590720"/>
              <a:ext cx="12556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marks dish READY.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Rectangle 40"/>
            <p:cNvSpPr/>
            <p:nvPr/>
          </p:nvSpPr>
          <p:spPr>
            <a:xfrm>
              <a:off x="3067200" y="5381640"/>
              <a:ext cx="1714320" cy="333000"/>
            </a:xfrm>
            <a:prstGeom prst="roundRect">
              <a:avLst>
                <a:gd name="adj" fmla="val 17143"/>
              </a:avLst>
            </a:prstGeom>
            <a:solidFill>
              <a:srgbClr val="ecfd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TextBox 41"/>
            <p:cNvSpPr/>
            <p:nvPr/>
          </p:nvSpPr>
          <p:spPr>
            <a:xfrm>
              <a:off x="3479760" y="5503680"/>
              <a:ext cx="888480" cy="1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00" strike="noStrike" u="none">
                  <a:solidFill>
                    <a:srgbClr val="047857"/>
                  </a:solidFill>
                  <a:effectLst/>
                  <a:uFillTx/>
                  <a:latin typeface="Times New Roman"/>
                  <a:ea typeface="Times New Roman"/>
                </a:rPr>
                <a:t>Staff Tablet UI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Rectangle 42"/>
            <p:cNvSpPr/>
            <p:nvPr/>
          </p:nvSpPr>
          <p:spPr>
            <a:xfrm>
              <a:off x="5095800" y="1428840"/>
              <a:ext cx="1999800" cy="452412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Rectangle 43"/>
            <p:cNvSpPr/>
            <p:nvPr/>
          </p:nvSpPr>
          <p:spPr>
            <a:xfrm>
              <a:off x="5095800" y="1428840"/>
              <a:ext cx="1999800" cy="7596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Ellipse 44"/>
            <p:cNvSpPr/>
            <p:nvPr/>
          </p:nvSpPr>
          <p:spPr>
            <a:xfrm>
              <a:off x="5867280" y="1628640"/>
              <a:ext cx="456840" cy="456840"/>
            </a:xfrm>
            <a:prstGeom prst="ellipse">
              <a:avLst/>
            </a:prstGeom>
            <a:solidFill>
              <a:srgbClr val="fef3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TextBox 45"/>
            <p:cNvSpPr/>
            <p:nvPr/>
          </p:nvSpPr>
          <p:spPr>
            <a:xfrm>
              <a:off x="5802120" y="1803960"/>
              <a:ext cx="587520" cy="23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CHEF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TextBox 46"/>
            <p:cNvSpPr/>
            <p:nvPr/>
          </p:nvSpPr>
          <p:spPr>
            <a:xfrm>
              <a:off x="5468400" y="2187720"/>
              <a:ext cx="12546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Chef / Kitchen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" name="TextBox 47"/>
            <p:cNvSpPr/>
            <p:nvPr/>
          </p:nvSpPr>
          <p:spPr>
            <a:xfrm>
              <a:off x="5533560" y="2447280"/>
              <a:ext cx="11246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Culinary Execution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" name="Line 48"/>
            <p:cNvSpPr/>
            <p:nvPr/>
          </p:nvSpPr>
          <p:spPr>
            <a:xfrm>
              <a:off x="5238720" y="2714760"/>
              <a:ext cx="1714320" cy="9000"/>
            </a:xfrm>
            <a:custGeom>
              <a:avLst/>
              <a:gdLst>
                <a:gd name="textAreaLeft" fmla="*/ 0 w 1714320"/>
                <a:gd name="textAreaRight" fmla="*/ 1714680 w 17143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" name="TextBox 49"/>
            <p:cNvSpPr/>
            <p:nvPr/>
          </p:nvSpPr>
          <p:spPr>
            <a:xfrm>
              <a:off x="5233320" y="2887200"/>
              <a:ext cx="17046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Kitchen Display (KDS):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TextBox 50"/>
            <p:cNvSpPr/>
            <p:nvPr/>
          </p:nvSpPr>
          <p:spPr>
            <a:xfrm>
              <a:off x="5233680" y="3085560"/>
              <a:ext cx="11876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Real-time prioritized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TextBox 51"/>
            <p:cNvSpPr/>
            <p:nvPr/>
          </p:nvSpPr>
          <p:spPr>
            <a:xfrm>
              <a:off x="5233680" y="3256920"/>
              <a:ext cx="9576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order ticket feed.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TextBox 52"/>
            <p:cNvSpPr/>
            <p:nvPr/>
          </p:nvSpPr>
          <p:spPr>
            <a:xfrm>
              <a:off x="5233320" y="3553920"/>
              <a:ext cx="12873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Stage Transitions: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TextBox 53"/>
            <p:cNvSpPr/>
            <p:nvPr/>
          </p:nvSpPr>
          <p:spPr>
            <a:xfrm>
              <a:off x="5233680" y="3752280"/>
              <a:ext cx="17866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PENDING → COOKING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" name="TextBox 54"/>
            <p:cNvSpPr/>
            <p:nvPr/>
          </p:nvSpPr>
          <p:spPr>
            <a:xfrm>
              <a:off x="5233680" y="3924000"/>
              <a:ext cx="14821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→ READY in one click.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TextBox 55"/>
            <p:cNvSpPr/>
            <p:nvPr/>
          </p:nvSpPr>
          <p:spPr>
            <a:xfrm>
              <a:off x="5233320" y="4220640"/>
              <a:ext cx="13111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Stock Availability: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" name="TextBox 56"/>
            <p:cNvSpPr/>
            <p:nvPr/>
          </p:nvSpPr>
          <p:spPr>
            <a:xfrm>
              <a:off x="5233680" y="4419000"/>
              <a:ext cx="11012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Toggle menu items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3" name="TextBox 57"/>
            <p:cNvSpPr/>
            <p:nvPr/>
          </p:nvSpPr>
          <p:spPr>
            <a:xfrm>
              <a:off x="5233680" y="4590720"/>
              <a:ext cx="1240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out-of-stock instantly.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4" name="Rectangle 58"/>
            <p:cNvSpPr/>
            <p:nvPr/>
          </p:nvSpPr>
          <p:spPr>
            <a:xfrm>
              <a:off x="5238720" y="5381640"/>
              <a:ext cx="1714320" cy="333000"/>
            </a:xfrm>
            <a:prstGeom prst="roundRect">
              <a:avLst>
                <a:gd name="adj" fmla="val 17143"/>
              </a:avLst>
            </a:prstGeom>
            <a:solidFill>
              <a:srgbClr val="fffb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" name="TextBox 59"/>
            <p:cNvSpPr/>
            <p:nvPr/>
          </p:nvSpPr>
          <p:spPr>
            <a:xfrm>
              <a:off x="5520960" y="5503680"/>
              <a:ext cx="1149840" cy="1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00" strike="noStrike" u="none">
                  <a:solidFill>
                    <a:srgbClr val="b45309"/>
                  </a:solidFill>
                  <a:effectLst/>
                  <a:uFillTx/>
                  <a:latin typeface="Times New Roman"/>
                  <a:ea typeface="Times New Roman"/>
                </a:rPr>
                <a:t>KDS Monitor View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" name="Rectangle 60"/>
            <p:cNvSpPr/>
            <p:nvPr/>
          </p:nvSpPr>
          <p:spPr>
            <a:xfrm>
              <a:off x="7257960" y="1428840"/>
              <a:ext cx="1999800" cy="452412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Rectangle 61"/>
            <p:cNvSpPr/>
            <p:nvPr/>
          </p:nvSpPr>
          <p:spPr>
            <a:xfrm>
              <a:off x="7257960" y="1428840"/>
              <a:ext cx="1999800" cy="7596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" name="Ellipse 62"/>
            <p:cNvSpPr/>
            <p:nvPr/>
          </p:nvSpPr>
          <p:spPr>
            <a:xfrm>
              <a:off x="8029440" y="1628640"/>
              <a:ext cx="456840" cy="456840"/>
            </a:xfrm>
            <a:prstGeom prst="ellipse">
              <a:avLst/>
            </a:prstGeom>
            <a:solidFill>
              <a:srgbClr val="ede9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9" name="TextBox 63"/>
            <p:cNvSpPr/>
            <p:nvPr/>
          </p:nvSpPr>
          <p:spPr>
            <a:xfrm>
              <a:off x="7964280" y="1803960"/>
              <a:ext cx="587520" cy="23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rgbClr val="7c3aed"/>
                  </a:solidFill>
                  <a:effectLst/>
                  <a:uFillTx/>
                  <a:latin typeface="Times New Roman"/>
                  <a:ea typeface="Times New Roman"/>
                </a:rPr>
                <a:t>DELV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TextBox 64"/>
            <p:cNvSpPr/>
            <p:nvPr/>
          </p:nvSpPr>
          <p:spPr>
            <a:xfrm>
              <a:off x="7535520" y="2187720"/>
              <a:ext cx="14446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Delivery Courier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TextBox 65"/>
            <p:cNvSpPr/>
            <p:nvPr/>
          </p:nvSpPr>
          <p:spPr>
            <a:xfrm>
              <a:off x="7687440" y="2447280"/>
              <a:ext cx="11408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Outbound Logistics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Line 66"/>
            <p:cNvSpPr/>
            <p:nvPr/>
          </p:nvSpPr>
          <p:spPr>
            <a:xfrm>
              <a:off x="7400880" y="2714760"/>
              <a:ext cx="1714320" cy="9000"/>
            </a:xfrm>
            <a:custGeom>
              <a:avLst/>
              <a:gdLst>
                <a:gd name="textAreaLeft" fmla="*/ 0 w 1714320"/>
                <a:gd name="textAreaRight" fmla="*/ 1714680 w 17143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TextBox 67"/>
            <p:cNvSpPr/>
            <p:nvPr/>
          </p:nvSpPr>
          <p:spPr>
            <a:xfrm>
              <a:off x="7395480" y="2887200"/>
              <a:ext cx="13575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Order Assignment: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TextBox 68"/>
            <p:cNvSpPr/>
            <p:nvPr/>
          </p:nvSpPr>
          <p:spPr>
            <a:xfrm>
              <a:off x="7395840" y="3085560"/>
              <a:ext cx="13795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View packaged take-out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5" name="TextBox 69"/>
            <p:cNvSpPr/>
            <p:nvPr/>
          </p:nvSpPr>
          <p:spPr>
            <a:xfrm>
              <a:off x="7395840" y="3256920"/>
              <a:ext cx="1120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and delivery orders.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TextBox 70"/>
            <p:cNvSpPr/>
            <p:nvPr/>
          </p:nvSpPr>
          <p:spPr>
            <a:xfrm>
              <a:off x="7395480" y="3553920"/>
              <a:ext cx="12895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Route Navigation: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TextBox 71"/>
            <p:cNvSpPr/>
            <p:nvPr/>
          </p:nvSpPr>
          <p:spPr>
            <a:xfrm>
              <a:off x="7395840" y="3752280"/>
              <a:ext cx="14281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Access recipient address,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TextBox 72"/>
            <p:cNvSpPr/>
            <p:nvPr/>
          </p:nvSpPr>
          <p:spPr>
            <a:xfrm>
              <a:off x="7395840" y="3924000"/>
              <a:ext cx="13644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contact &amp; dispatch note.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TextBox 73"/>
            <p:cNvSpPr/>
            <p:nvPr/>
          </p:nvSpPr>
          <p:spPr>
            <a:xfrm>
              <a:off x="7395480" y="4220640"/>
              <a:ext cx="12675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Proof of Delivery: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TextBox 74"/>
            <p:cNvSpPr/>
            <p:nvPr/>
          </p:nvSpPr>
          <p:spPr>
            <a:xfrm>
              <a:off x="7395840" y="4419000"/>
              <a:ext cx="15458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Mark DELIVERED and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TextBox 75"/>
            <p:cNvSpPr/>
            <p:nvPr/>
          </p:nvSpPr>
          <p:spPr>
            <a:xfrm>
              <a:off x="7395840" y="4590720"/>
              <a:ext cx="13449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record completion time.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2" name="Rectangle 76"/>
            <p:cNvSpPr/>
            <p:nvPr/>
          </p:nvSpPr>
          <p:spPr>
            <a:xfrm>
              <a:off x="7400880" y="5381640"/>
              <a:ext cx="1714320" cy="333000"/>
            </a:xfrm>
            <a:prstGeom prst="roundRect">
              <a:avLst>
                <a:gd name="adj" fmla="val 17143"/>
              </a:avLst>
            </a:prstGeom>
            <a:solidFill>
              <a:srgbClr val="f5f3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TextBox 77"/>
            <p:cNvSpPr/>
            <p:nvPr/>
          </p:nvSpPr>
          <p:spPr>
            <a:xfrm>
              <a:off x="7652160" y="5503680"/>
              <a:ext cx="1211760" cy="1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00" strike="noStrike" u="none">
                  <a:solidFill>
                    <a:srgbClr val="6d28d9"/>
                  </a:solidFill>
                  <a:effectLst/>
                  <a:uFillTx/>
                  <a:latin typeface="Times New Roman"/>
                  <a:ea typeface="Times New Roman"/>
                </a:rPr>
                <a:t>Mobile Courier View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Rectangle 78"/>
            <p:cNvSpPr/>
            <p:nvPr/>
          </p:nvSpPr>
          <p:spPr>
            <a:xfrm>
              <a:off x="9429840" y="1428840"/>
              <a:ext cx="1999800" cy="452412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Rectangle 79"/>
            <p:cNvSpPr/>
            <p:nvPr/>
          </p:nvSpPr>
          <p:spPr>
            <a:xfrm>
              <a:off x="9429840" y="1428840"/>
              <a:ext cx="1999800" cy="7596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6" name="Ellipse 80"/>
            <p:cNvSpPr/>
            <p:nvPr/>
          </p:nvSpPr>
          <p:spPr>
            <a:xfrm>
              <a:off x="10201320" y="1628640"/>
              <a:ext cx="456840" cy="456840"/>
            </a:xfrm>
            <a:prstGeom prst="ellipse">
              <a:avLst/>
            </a:prstGeom>
            <a:solidFill>
              <a:srgbClr val="f1f5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TextBox 81"/>
            <p:cNvSpPr/>
            <p:nvPr/>
          </p:nvSpPr>
          <p:spPr>
            <a:xfrm>
              <a:off x="10170360" y="1803960"/>
              <a:ext cx="518400" cy="23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MGR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TextBox 82"/>
            <p:cNvSpPr/>
            <p:nvPr/>
          </p:nvSpPr>
          <p:spPr>
            <a:xfrm>
              <a:off x="9785160" y="2187720"/>
              <a:ext cx="12891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Store Manager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9" name="TextBox 83"/>
            <p:cNvSpPr/>
            <p:nvPr/>
          </p:nvSpPr>
          <p:spPr>
            <a:xfrm>
              <a:off x="9858240" y="2447280"/>
              <a:ext cx="11426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Admin &amp; Analytics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0" name="Line 84"/>
            <p:cNvSpPr/>
            <p:nvPr/>
          </p:nvSpPr>
          <p:spPr>
            <a:xfrm>
              <a:off x="9572760" y="2714760"/>
              <a:ext cx="1714320" cy="9000"/>
            </a:xfrm>
            <a:custGeom>
              <a:avLst/>
              <a:gdLst>
                <a:gd name="textAreaLeft" fmla="*/ 0 w 1714320"/>
                <a:gd name="textAreaRight" fmla="*/ 1714680 w 17143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1" name="TextBox 85"/>
            <p:cNvSpPr/>
            <p:nvPr/>
          </p:nvSpPr>
          <p:spPr>
            <a:xfrm>
              <a:off x="9567360" y="2887200"/>
              <a:ext cx="12682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Sales Intelligence: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2" name="TextBox 86"/>
            <p:cNvSpPr/>
            <p:nvPr/>
          </p:nvSpPr>
          <p:spPr>
            <a:xfrm>
              <a:off x="9567720" y="3085560"/>
              <a:ext cx="12355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Revenue trends, daily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3" name="TextBox 87"/>
            <p:cNvSpPr/>
            <p:nvPr/>
          </p:nvSpPr>
          <p:spPr>
            <a:xfrm>
              <a:off x="9567720" y="3256920"/>
              <a:ext cx="13878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velocity &amp; dish margins.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TextBox 88"/>
            <p:cNvSpPr/>
            <p:nvPr/>
          </p:nvSpPr>
          <p:spPr>
            <a:xfrm>
              <a:off x="9567360" y="3553920"/>
              <a:ext cx="13132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Staff &amp; Schedules: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TextBox 89"/>
            <p:cNvSpPr/>
            <p:nvPr/>
          </p:nvSpPr>
          <p:spPr>
            <a:xfrm>
              <a:off x="9567720" y="3752280"/>
              <a:ext cx="12646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Shift roster allocation,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TextBox 90"/>
            <p:cNvSpPr/>
            <p:nvPr/>
          </p:nvSpPr>
          <p:spPr>
            <a:xfrm>
              <a:off x="9567720" y="3924000"/>
              <a:ext cx="9774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role assignments.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TextBox 91"/>
            <p:cNvSpPr/>
            <p:nvPr/>
          </p:nvSpPr>
          <p:spPr>
            <a:xfrm>
              <a:off x="9567360" y="4220640"/>
              <a:ext cx="14418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Catalog &amp; Coupons: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TextBox 92"/>
            <p:cNvSpPr/>
            <p:nvPr/>
          </p:nvSpPr>
          <p:spPr>
            <a:xfrm>
              <a:off x="9567720" y="4419000"/>
              <a:ext cx="16250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Full menu CRUD, discount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TextBox 93"/>
            <p:cNvSpPr/>
            <p:nvPr/>
          </p:nvSpPr>
          <p:spPr>
            <a:xfrm>
              <a:off x="9567720" y="4590720"/>
              <a:ext cx="12715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rules &amp; system config.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0" name="Rectangle 94"/>
            <p:cNvSpPr/>
            <p:nvPr/>
          </p:nvSpPr>
          <p:spPr>
            <a:xfrm>
              <a:off x="9572760" y="5381640"/>
              <a:ext cx="1714320" cy="333000"/>
            </a:xfrm>
            <a:prstGeom prst="roundRect">
              <a:avLst>
                <a:gd name="adj" fmla="val 17143"/>
              </a:avLst>
            </a:prstGeom>
            <a:solidFill>
              <a:srgbClr val="f8fa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1" name="TextBox 95"/>
            <p:cNvSpPr/>
            <p:nvPr/>
          </p:nvSpPr>
          <p:spPr>
            <a:xfrm>
              <a:off x="9826200" y="5503680"/>
              <a:ext cx="1207080" cy="1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00" strike="noStrike" u="none">
                  <a:solidFill>
                    <a:srgbClr val="1e293b"/>
                  </a:solidFill>
                  <a:effectLst/>
                  <a:uFillTx/>
                  <a:latin typeface="Times New Roman"/>
                  <a:ea typeface="Times New Roman"/>
                </a:rPr>
                <a:t>Executive Dashboard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2" name="footer"/>
          <p:cNvGrpSpPr/>
          <p:nvPr/>
        </p:nvGrpSpPr>
        <p:grpSpPr>
          <a:xfrm>
            <a:off x="757080" y="6238800"/>
            <a:ext cx="10677600" cy="342360"/>
            <a:chOff x="757080" y="6238800"/>
            <a:chExt cx="10677600" cy="342360"/>
          </a:xfrm>
        </p:grpSpPr>
        <p:sp>
          <p:nvSpPr>
            <p:cNvPr id="383" name="Line 97"/>
            <p:cNvSpPr/>
            <p:nvPr/>
          </p:nvSpPr>
          <p:spPr>
            <a:xfrm>
              <a:off x="762120" y="623880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TextBox 98"/>
            <p:cNvSpPr/>
            <p:nvPr/>
          </p:nvSpPr>
          <p:spPr>
            <a:xfrm>
              <a:off x="757080" y="6390720"/>
              <a:ext cx="4138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Graduation Thesis Defense: Full-Stack Restaurant Management System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TextBox 99"/>
            <p:cNvSpPr/>
            <p:nvPr/>
          </p:nvSpPr>
          <p:spPr>
            <a:xfrm>
              <a:off x="10686240" y="6390720"/>
              <a:ext cx="748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Slide 08 / 20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header"/>
          <p:cNvGrpSpPr/>
          <p:nvPr/>
        </p:nvGrpSpPr>
        <p:grpSpPr>
          <a:xfrm>
            <a:off x="750600" y="542520"/>
            <a:ext cx="10679040" cy="628560"/>
            <a:chOff x="750600" y="542520"/>
            <a:chExt cx="10679040" cy="628560"/>
          </a:xfrm>
        </p:grpSpPr>
        <p:sp>
          <p:nvSpPr>
            <p:cNvPr id="387" name="TextBox 2"/>
            <p:cNvSpPr/>
            <p:nvPr/>
          </p:nvSpPr>
          <p:spPr>
            <a:xfrm>
              <a:off x="757080" y="542520"/>
              <a:ext cx="36158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pc="74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02. SYSTEM DESIGN | DATA PIPELINES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TextBox 3"/>
            <p:cNvSpPr/>
            <p:nvPr/>
          </p:nvSpPr>
          <p:spPr>
            <a:xfrm>
              <a:off x="750600" y="747720"/>
              <a:ext cx="5014800" cy="34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2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End-to-End Order and Transaction Flow</a:t>
              </a:r>
              <a:endParaRPr b="0" lang="en-US" sz="22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Line 4"/>
            <p:cNvSpPr/>
            <p:nvPr/>
          </p:nvSpPr>
          <p:spPr>
            <a:xfrm>
              <a:off x="762120" y="116208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0" name="steps-pipeline"/>
          <p:cNvGrpSpPr/>
          <p:nvPr/>
        </p:nvGrpSpPr>
        <p:grpSpPr>
          <a:xfrm>
            <a:off x="762120" y="1523880"/>
            <a:ext cx="10791360" cy="3428640"/>
            <a:chOff x="762120" y="1523880"/>
            <a:chExt cx="10791360" cy="3428640"/>
          </a:xfrm>
        </p:grpSpPr>
        <p:sp>
          <p:nvSpPr>
            <p:cNvPr id="391" name="Rectangle 6"/>
            <p:cNvSpPr/>
            <p:nvPr/>
          </p:nvSpPr>
          <p:spPr>
            <a:xfrm>
              <a:off x="762120" y="1523880"/>
              <a:ext cx="1904760" cy="342864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Rectangle 7"/>
            <p:cNvSpPr/>
            <p:nvPr/>
          </p:nvSpPr>
          <p:spPr>
            <a:xfrm>
              <a:off x="762120" y="1523880"/>
              <a:ext cx="1904760" cy="5688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" bIns="-468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3" name="Ellipse 8"/>
            <p:cNvSpPr/>
            <p:nvPr/>
          </p:nvSpPr>
          <p:spPr>
            <a:xfrm>
              <a:off x="1523880" y="1762200"/>
              <a:ext cx="380520" cy="380520"/>
            </a:xfrm>
            <a:prstGeom prst="ellipse">
              <a:avLst/>
            </a:prstGeom>
            <a:solidFill>
              <a:srgbClr val="e0f2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4" name="TextBox 9"/>
            <p:cNvSpPr/>
            <p:nvPr/>
          </p:nvSpPr>
          <p:spPr>
            <a:xfrm>
              <a:off x="1394280" y="1897920"/>
              <a:ext cx="64008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120" strike="noStrike" u="none">
                  <a:solidFill>
                    <a:srgbClr val="0284c7"/>
                  </a:solidFill>
                  <a:effectLst/>
                  <a:uFillTx/>
                  <a:latin typeface="Times New Roman"/>
                  <a:ea typeface="Times New Roman"/>
                </a:rPr>
                <a:t>STEP 1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TextBox 10"/>
            <p:cNvSpPr/>
            <p:nvPr/>
          </p:nvSpPr>
          <p:spPr>
            <a:xfrm>
              <a:off x="1169640" y="2243520"/>
              <a:ext cx="1089720" cy="24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8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Order Intake</a:t>
              </a:r>
              <a:endParaRPr b="0" lang="en-US" sz="12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TextBox 11"/>
            <p:cNvSpPr/>
            <p:nvPr/>
          </p:nvSpPr>
          <p:spPr>
            <a:xfrm>
              <a:off x="900000" y="2609280"/>
              <a:ext cx="466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Action: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7" name="TextBox 12"/>
            <p:cNvSpPr/>
            <p:nvPr/>
          </p:nvSpPr>
          <p:spPr>
            <a:xfrm>
              <a:off x="900000" y="2799720"/>
              <a:ext cx="14680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Customer scans table QR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TextBox 13"/>
            <p:cNvSpPr/>
            <p:nvPr/>
          </p:nvSpPr>
          <p:spPr>
            <a:xfrm>
              <a:off x="900000" y="2971440"/>
              <a:ext cx="13644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or submits delivery cart.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TextBox 14"/>
            <p:cNvSpPr/>
            <p:nvPr/>
          </p:nvSpPr>
          <p:spPr>
            <a:xfrm>
              <a:off x="900000" y="3276000"/>
              <a:ext cx="10587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Technical Layer: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TextBox 15"/>
            <p:cNvSpPr/>
            <p:nvPr/>
          </p:nvSpPr>
          <p:spPr>
            <a:xfrm>
              <a:off x="900000" y="3466800"/>
              <a:ext cx="15256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FastAPI receives payload,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TextBox 16"/>
            <p:cNvSpPr/>
            <p:nvPr/>
          </p:nvSpPr>
          <p:spPr>
            <a:xfrm>
              <a:off x="900000" y="3638160"/>
              <a:ext cx="14425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Pydantic validates DTO.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TextBox 17"/>
            <p:cNvSpPr/>
            <p:nvPr/>
          </p:nvSpPr>
          <p:spPr>
            <a:xfrm>
              <a:off x="900000" y="3942720"/>
              <a:ext cx="973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Database State: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Rectangle 18"/>
            <p:cNvSpPr/>
            <p:nvPr/>
          </p:nvSpPr>
          <p:spPr>
            <a:xfrm>
              <a:off x="905040" y="4191120"/>
              <a:ext cx="1618920" cy="285480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TextBox 19"/>
            <p:cNvSpPr/>
            <p:nvPr/>
          </p:nvSpPr>
          <p:spPr>
            <a:xfrm>
              <a:off x="1140120" y="4284360"/>
              <a:ext cx="1148400" cy="1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0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Status: PENDING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Line 20"/>
            <p:cNvSpPr/>
            <p:nvPr/>
          </p:nvSpPr>
          <p:spPr>
            <a:xfrm>
              <a:off x="2666880" y="3238560"/>
              <a:ext cx="285480" cy="900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0284c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Polygon 21"/>
            <p:cNvSpPr/>
            <p:nvPr/>
          </p:nvSpPr>
          <p:spPr>
            <a:xfrm>
              <a:off x="2933640" y="3200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1320" bIns="3132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7" name="Rectangle 22"/>
            <p:cNvSpPr/>
            <p:nvPr/>
          </p:nvSpPr>
          <p:spPr>
            <a:xfrm>
              <a:off x="2952720" y="1523880"/>
              <a:ext cx="1904760" cy="342864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Rectangle 23"/>
            <p:cNvSpPr/>
            <p:nvPr/>
          </p:nvSpPr>
          <p:spPr>
            <a:xfrm>
              <a:off x="2952720" y="1523880"/>
              <a:ext cx="1904760" cy="5688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" bIns="-468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Ellipse 24"/>
            <p:cNvSpPr/>
            <p:nvPr/>
          </p:nvSpPr>
          <p:spPr>
            <a:xfrm>
              <a:off x="3714840" y="1762200"/>
              <a:ext cx="380520" cy="380520"/>
            </a:xfrm>
            <a:prstGeom prst="ellipse">
              <a:avLst/>
            </a:prstGeom>
            <a:solidFill>
              <a:srgbClr val="d1fa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TextBox 25"/>
            <p:cNvSpPr/>
            <p:nvPr/>
          </p:nvSpPr>
          <p:spPr>
            <a:xfrm>
              <a:off x="3585240" y="1897920"/>
              <a:ext cx="64008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120" strike="noStrike" u="none">
                  <a:solidFill>
                    <a:srgbClr val="059669"/>
                  </a:solidFill>
                  <a:effectLst/>
                  <a:uFillTx/>
                  <a:latin typeface="Times New Roman"/>
                  <a:ea typeface="Times New Roman"/>
                </a:rPr>
                <a:t>STEP 2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TextBox 26"/>
            <p:cNvSpPr/>
            <p:nvPr/>
          </p:nvSpPr>
          <p:spPr>
            <a:xfrm>
              <a:off x="3210480" y="2243520"/>
              <a:ext cx="1389240" cy="24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8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Auth &amp; Payment</a:t>
              </a:r>
              <a:endParaRPr b="0" lang="en-US" sz="12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TextBox 27"/>
            <p:cNvSpPr/>
            <p:nvPr/>
          </p:nvSpPr>
          <p:spPr>
            <a:xfrm>
              <a:off x="3090600" y="2609280"/>
              <a:ext cx="466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Action: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TextBox 28"/>
            <p:cNvSpPr/>
            <p:nvPr/>
          </p:nvSpPr>
          <p:spPr>
            <a:xfrm>
              <a:off x="3090600" y="2799720"/>
              <a:ext cx="1282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Voucher code applied,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TextBox 29"/>
            <p:cNvSpPr/>
            <p:nvPr/>
          </p:nvSpPr>
          <p:spPr>
            <a:xfrm>
              <a:off x="3090600" y="2971440"/>
              <a:ext cx="1267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total amount finalized.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TextBox 30"/>
            <p:cNvSpPr/>
            <p:nvPr/>
          </p:nvSpPr>
          <p:spPr>
            <a:xfrm>
              <a:off x="3090600" y="3276000"/>
              <a:ext cx="10587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Technical Layer: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TextBox 31"/>
            <p:cNvSpPr/>
            <p:nvPr/>
          </p:nvSpPr>
          <p:spPr>
            <a:xfrm>
              <a:off x="3090600" y="3466800"/>
              <a:ext cx="14076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DiscountService checks,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TextBox 32"/>
            <p:cNvSpPr/>
            <p:nvPr/>
          </p:nvSpPr>
          <p:spPr>
            <a:xfrm>
              <a:off x="3090600" y="3638160"/>
              <a:ext cx="13885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Payment created in DB.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8" name="TextBox 33"/>
            <p:cNvSpPr/>
            <p:nvPr/>
          </p:nvSpPr>
          <p:spPr>
            <a:xfrm>
              <a:off x="3090600" y="3942720"/>
              <a:ext cx="973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Database State: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9" name="Rectangle 34"/>
            <p:cNvSpPr/>
            <p:nvPr/>
          </p:nvSpPr>
          <p:spPr>
            <a:xfrm>
              <a:off x="3095640" y="4191120"/>
              <a:ext cx="1618920" cy="285480"/>
            </a:xfrm>
            <a:prstGeom prst="roundRect">
              <a:avLst>
                <a:gd name="adj" fmla="val 16667"/>
              </a:avLst>
            </a:prstGeom>
            <a:solidFill>
              <a:srgbClr val="ecfd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0" name="TextBox 35"/>
            <p:cNvSpPr/>
            <p:nvPr/>
          </p:nvSpPr>
          <p:spPr>
            <a:xfrm>
              <a:off x="3116160" y="4284360"/>
              <a:ext cx="1577520" cy="1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00" strike="noStrike" u="none">
                  <a:solidFill>
                    <a:srgbClr val="065f46"/>
                  </a:solidFill>
                  <a:effectLst/>
                  <a:uFillTx/>
                  <a:latin typeface="Times New Roman"/>
                  <a:ea typeface="Times New Roman"/>
                </a:rPr>
                <a:t>Payment: COMPLETED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Line 36"/>
            <p:cNvSpPr/>
            <p:nvPr/>
          </p:nvSpPr>
          <p:spPr>
            <a:xfrm>
              <a:off x="4857840" y="3238560"/>
              <a:ext cx="285480" cy="900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05966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2" name="Polygon 37"/>
            <p:cNvSpPr/>
            <p:nvPr/>
          </p:nvSpPr>
          <p:spPr>
            <a:xfrm>
              <a:off x="5124600" y="3200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596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1320" bIns="3132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3" name="Rectangle 38"/>
            <p:cNvSpPr/>
            <p:nvPr/>
          </p:nvSpPr>
          <p:spPr>
            <a:xfrm>
              <a:off x="5143680" y="1523880"/>
              <a:ext cx="1904760" cy="342864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Rectangle 39"/>
            <p:cNvSpPr/>
            <p:nvPr/>
          </p:nvSpPr>
          <p:spPr>
            <a:xfrm>
              <a:off x="5143680" y="1523880"/>
              <a:ext cx="1904760" cy="5688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" bIns="-468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5" name="Ellipse 40"/>
            <p:cNvSpPr/>
            <p:nvPr/>
          </p:nvSpPr>
          <p:spPr>
            <a:xfrm>
              <a:off x="5905440" y="1762200"/>
              <a:ext cx="380520" cy="380520"/>
            </a:xfrm>
            <a:prstGeom prst="ellipse">
              <a:avLst/>
            </a:prstGeom>
            <a:solidFill>
              <a:srgbClr val="fef3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6" name="TextBox 41"/>
            <p:cNvSpPr/>
            <p:nvPr/>
          </p:nvSpPr>
          <p:spPr>
            <a:xfrm>
              <a:off x="5775840" y="1897920"/>
              <a:ext cx="64008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120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STEP 3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TextBox 42"/>
            <p:cNvSpPr/>
            <p:nvPr/>
          </p:nvSpPr>
          <p:spPr>
            <a:xfrm>
              <a:off x="5504400" y="2243520"/>
              <a:ext cx="1182600" cy="24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8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KDS Cooking</a:t>
              </a:r>
              <a:endParaRPr b="0" lang="en-US" sz="12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TextBox 43"/>
            <p:cNvSpPr/>
            <p:nvPr/>
          </p:nvSpPr>
          <p:spPr>
            <a:xfrm>
              <a:off x="5281560" y="2609280"/>
              <a:ext cx="466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Action: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9" name="TextBox 44"/>
            <p:cNvSpPr/>
            <p:nvPr/>
          </p:nvSpPr>
          <p:spPr>
            <a:xfrm>
              <a:off x="5281560" y="2799720"/>
              <a:ext cx="13276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Order ticket appears on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0" name="TextBox 45"/>
            <p:cNvSpPr/>
            <p:nvPr/>
          </p:nvSpPr>
          <p:spPr>
            <a:xfrm>
              <a:off x="5281560" y="2971440"/>
              <a:ext cx="13734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Kitchen Display screen.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1" name="TextBox 46"/>
            <p:cNvSpPr/>
            <p:nvPr/>
          </p:nvSpPr>
          <p:spPr>
            <a:xfrm>
              <a:off x="5281560" y="3276000"/>
              <a:ext cx="10587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Technical Layer: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2" name="TextBox 47"/>
            <p:cNvSpPr/>
            <p:nvPr/>
          </p:nvSpPr>
          <p:spPr>
            <a:xfrm>
              <a:off x="5281560" y="3466800"/>
              <a:ext cx="14720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Chef clicks "Start Cook",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TextBox 48"/>
            <p:cNvSpPr/>
            <p:nvPr/>
          </p:nvSpPr>
          <p:spPr>
            <a:xfrm>
              <a:off x="5281560" y="3638160"/>
              <a:ext cx="14288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OrderService transitions.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TextBox 49"/>
            <p:cNvSpPr/>
            <p:nvPr/>
          </p:nvSpPr>
          <p:spPr>
            <a:xfrm>
              <a:off x="5281560" y="3942720"/>
              <a:ext cx="973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Database State: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5" name="Rectangle 50"/>
            <p:cNvSpPr/>
            <p:nvPr/>
          </p:nvSpPr>
          <p:spPr>
            <a:xfrm>
              <a:off x="5286240" y="4191120"/>
              <a:ext cx="1618920" cy="285480"/>
            </a:xfrm>
            <a:prstGeom prst="roundRect">
              <a:avLst>
                <a:gd name="adj" fmla="val 16667"/>
              </a:avLst>
            </a:prstGeom>
            <a:solidFill>
              <a:srgbClr val="fffb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6" name="TextBox 51"/>
            <p:cNvSpPr/>
            <p:nvPr/>
          </p:nvSpPr>
          <p:spPr>
            <a:xfrm>
              <a:off x="5497560" y="4284360"/>
              <a:ext cx="1196640" cy="1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00" strike="noStrike" u="none">
                  <a:solidFill>
                    <a:srgbClr val="92400e"/>
                  </a:solidFill>
                  <a:effectLst/>
                  <a:uFillTx/>
                  <a:latin typeface="Times New Roman"/>
                  <a:ea typeface="Times New Roman"/>
                </a:rPr>
                <a:t>Status: COOKING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Line 52"/>
            <p:cNvSpPr/>
            <p:nvPr/>
          </p:nvSpPr>
          <p:spPr>
            <a:xfrm>
              <a:off x="7048440" y="3238560"/>
              <a:ext cx="285480" cy="900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d9770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Polygon 53"/>
            <p:cNvSpPr/>
            <p:nvPr/>
          </p:nvSpPr>
          <p:spPr>
            <a:xfrm>
              <a:off x="7315200" y="3200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1320" bIns="3132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Rectangle 54"/>
            <p:cNvSpPr/>
            <p:nvPr/>
          </p:nvSpPr>
          <p:spPr>
            <a:xfrm>
              <a:off x="7334280" y="1523880"/>
              <a:ext cx="1904760" cy="342864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Rectangle 55"/>
            <p:cNvSpPr/>
            <p:nvPr/>
          </p:nvSpPr>
          <p:spPr>
            <a:xfrm>
              <a:off x="7334280" y="1523880"/>
              <a:ext cx="1904760" cy="5688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" bIns="-468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1" name="Ellipse 56"/>
            <p:cNvSpPr/>
            <p:nvPr/>
          </p:nvSpPr>
          <p:spPr>
            <a:xfrm>
              <a:off x="8096400" y="1762200"/>
              <a:ext cx="380520" cy="380520"/>
            </a:xfrm>
            <a:prstGeom prst="ellipse">
              <a:avLst/>
            </a:prstGeom>
            <a:solidFill>
              <a:srgbClr val="ede9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2" name="TextBox 57"/>
            <p:cNvSpPr/>
            <p:nvPr/>
          </p:nvSpPr>
          <p:spPr>
            <a:xfrm>
              <a:off x="7966440" y="1897920"/>
              <a:ext cx="64008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120" strike="noStrike" u="none">
                  <a:solidFill>
                    <a:srgbClr val="7c3aed"/>
                  </a:solidFill>
                  <a:effectLst/>
                  <a:uFillTx/>
                  <a:latin typeface="Times New Roman"/>
                  <a:ea typeface="Times New Roman"/>
                </a:rPr>
                <a:t>STEP 4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TextBox 58"/>
            <p:cNvSpPr/>
            <p:nvPr/>
          </p:nvSpPr>
          <p:spPr>
            <a:xfrm>
              <a:off x="7836840" y="2243520"/>
              <a:ext cx="899280" cy="24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8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Fulfillment</a:t>
              </a:r>
              <a:endParaRPr b="0" lang="en-US" sz="12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TextBox 59"/>
            <p:cNvSpPr/>
            <p:nvPr/>
          </p:nvSpPr>
          <p:spPr>
            <a:xfrm>
              <a:off x="7472160" y="2609280"/>
              <a:ext cx="466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Action: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TextBox 60"/>
            <p:cNvSpPr/>
            <p:nvPr/>
          </p:nvSpPr>
          <p:spPr>
            <a:xfrm>
              <a:off x="7472160" y="2799720"/>
              <a:ext cx="16642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Food is plated; Waiter serves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TextBox 61"/>
            <p:cNvSpPr/>
            <p:nvPr/>
          </p:nvSpPr>
          <p:spPr>
            <a:xfrm>
              <a:off x="7472160" y="2971440"/>
              <a:ext cx="13939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or Courier is dispatched.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TextBox 62"/>
            <p:cNvSpPr/>
            <p:nvPr/>
          </p:nvSpPr>
          <p:spPr>
            <a:xfrm>
              <a:off x="7472160" y="3276000"/>
              <a:ext cx="10587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Technical Layer: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TextBox 63"/>
            <p:cNvSpPr/>
            <p:nvPr/>
          </p:nvSpPr>
          <p:spPr>
            <a:xfrm>
              <a:off x="7472160" y="3466800"/>
              <a:ext cx="14360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Courier updates delivery,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9" name="TextBox 64"/>
            <p:cNvSpPr/>
            <p:nvPr/>
          </p:nvSpPr>
          <p:spPr>
            <a:xfrm>
              <a:off x="7472160" y="3638160"/>
              <a:ext cx="1426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customer tracks live step.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0" name="TextBox 65"/>
            <p:cNvSpPr/>
            <p:nvPr/>
          </p:nvSpPr>
          <p:spPr>
            <a:xfrm>
              <a:off x="7472160" y="3942720"/>
              <a:ext cx="973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Database State: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1" name="Rectangle 66"/>
            <p:cNvSpPr/>
            <p:nvPr/>
          </p:nvSpPr>
          <p:spPr>
            <a:xfrm>
              <a:off x="7477200" y="4191120"/>
              <a:ext cx="1618920" cy="285480"/>
            </a:xfrm>
            <a:prstGeom prst="roundRect">
              <a:avLst>
                <a:gd name="adj" fmla="val 16667"/>
              </a:avLst>
            </a:prstGeom>
            <a:solidFill>
              <a:srgbClr val="f5f3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2" name="TextBox 67"/>
            <p:cNvSpPr/>
            <p:nvPr/>
          </p:nvSpPr>
          <p:spPr>
            <a:xfrm>
              <a:off x="7398720" y="4284360"/>
              <a:ext cx="1775880" cy="1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00" strike="noStrike" u="none">
                  <a:solidFill>
                    <a:srgbClr val="5b21b6"/>
                  </a:solidFill>
                  <a:effectLst/>
                  <a:uFillTx/>
                  <a:latin typeface="Times New Roman"/>
                  <a:ea typeface="Times New Roman"/>
                </a:rPr>
                <a:t>Status: SHIPPING/READY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3" name="Line 68"/>
            <p:cNvSpPr/>
            <p:nvPr/>
          </p:nvSpPr>
          <p:spPr>
            <a:xfrm>
              <a:off x="9239400" y="3238560"/>
              <a:ext cx="285480" cy="9000"/>
            </a:xfrm>
            <a:custGeom>
              <a:avLst/>
              <a:gdLst>
                <a:gd name="textAreaLeft" fmla="*/ 0 w 285480"/>
                <a:gd name="textAreaRight" fmla="*/ 285840 w 2854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7c3a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4" name="Polygon 69"/>
            <p:cNvSpPr/>
            <p:nvPr/>
          </p:nvSpPr>
          <p:spPr>
            <a:xfrm>
              <a:off x="9505800" y="3200400"/>
              <a:ext cx="75960" cy="7596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c3a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1320" bIns="3132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5" name="Rectangle 70"/>
            <p:cNvSpPr/>
            <p:nvPr/>
          </p:nvSpPr>
          <p:spPr>
            <a:xfrm>
              <a:off x="9524880" y="1523880"/>
              <a:ext cx="1904760" cy="342864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6" name="Rectangle 71"/>
            <p:cNvSpPr/>
            <p:nvPr/>
          </p:nvSpPr>
          <p:spPr>
            <a:xfrm>
              <a:off x="9524880" y="1523880"/>
              <a:ext cx="1904760" cy="5688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" bIns="-468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7" name="Ellipse 72"/>
            <p:cNvSpPr/>
            <p:nvPr/>
          </p:nvSpPr>
          <p:spPr>
            <a:xfrm>
              <a:off x="10287000" y="1762200"/>
              <a:ext cx="380520" cy="380520"/>
            </a:xfrm>
            <a:prstGeom prst="ellipse">
              <a:avLst/>
            </a:prstGeom>
            <a:solidFill>
              <a:srgbClr val="f1f5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8" name="TextBox 73"/>
            <p:cNvSpPr/>
            <p:nvPr/>
          </p:nvSpPr>
          <p:spPr>
            <a:xfrm>
              <a:off x="10157400" y="1897920"/>
              <a:ext cx="64008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12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STEP 5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TextBox 74"/>
            <p:cNvSpPr/>
            <p:nvPr/>
          </p:nvSpPr>
          <p:spPr>
            <a:xfrm>
              <a:off x="10047600" y="2243520"/>
              <a:ext cx="859320" cy="24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28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Settlement</a:t>
              </a:r>
              <a:endParaRPr b="0" lang="en-US" sz="12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0" name="TextBox 75"/>
            <p:cNvSpPr/>
            <p:nvPr/>
          </p:nvSpPr>
          <p:spPr>
            <a:xfrm>
              <a:off x="9662760" y="2609280"/>
              <a:ext cx="466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Action: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1" name="TextBox 76"/>
            <p:cNvSpPr/>
            <p:nvPr/>
          </p:nvSpPr>
          <p:spPr>
            <a:xfrm>
              <a:off x="9662760" y="2799720"/>
              <a:ext cx="13982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Customer receives meal,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TextBox 77"/>
            <p:cNvSpPr/>
            <p:nvPr/>
          </p:nvSpPr>
          <p:spPr>
            <a:xfrm>
              <a:off x="9662760" y="2971440"/>
              <a:ext cx="13838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submits optional review.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TextBox 78"/>
            <p:cNvSpPr/>
            <p:nvPr/>
          </p:nvSpPr>
          <p:spPr>
            <a:xfrm>
              <a:off x="9662760" y="3276000"/>
              <a:ext cx="10587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Technical Layer: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4" name="TextBox 79"/>
            <p:cNvSpPr/>
            <p:nvPr/>
          </p:nvSpPr>
          <p:spPr>
            <a:xfrm>
              <a:off x="9662760" y="3466800"/>
              <a:ext cx="18907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PostgreSQL transaction commit,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TextBox 80"/>
            <p:cNvSpPr/>
            <p:nvPr/>
          </p:nvSpPr>
          <p:spPr>
            <a:xfrm>
              <a:off x="9662760" y="3638160"/>
              <a:ext cx="13680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analytics cache updated.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6" name="TextBox 81"/>
            <p:cNvSpPr/>
            <p:nvPr/>
          </p:nvSpPr>
          <p:spPr>
            <a:xfrm>
              <a:off x="9662760" y="3942720"/>
              <a:ext cx="973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Database State: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7" name="Rectangle 82"/>
            <p:cNvSpPr/>
            <p:nvPr/>
          </p:nvSpPr>
          <p:spPr>
            <a:xfrm>
              <a:off x="9667800" y="4191120"/>
              <a:ext cx="1618920" cy="285480"/>
            </a:xfrm>
            <a:prstGeom prst="roundRect">
              <a:avLst>
                <a:gd name="adj" fmla="val 16667"/>
              </a:avLst>
            </a:prstGeom>
            <a:solidFill>
              <a:srgbClr val="ecfd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8" name="TextBox 83"/>
            <p:cNvSpPr/>
            <p:nvPr/>
          </p:nvSpPr>
          <p:spPr>
            <a:xfrm>
              <a:off x="9799920" y="4284360"/>
              <a:ext cx="1354680" cy="1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00" strike="noStrike" u="none">
                  <a:solidFill>
                    <a:srgbClr val="065f46"/>
                  </a:solidFill>
                  <a:effectLst/>
                  <a:uFillTx/>
                  <a:latin typeface="Times New Roman"/>
                  <a:ea typeface="Times New Roman"/>
                </a:rPr>
                <a:t>Status: DELIVERED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69" name="bottom-guarantee"/>
          <p:cNvGrpSpPr/>
          <p:nvPr/>
        </p:nvGrpSpPr>
        <p:grpSpPr>
          <a:xfrm>
            <a:off x="762120" y="5095800"/>
            <a:ext cx="10667520" cy="904680"/>
            <a:chOff x="762120" y="5095800"/>
            <a:chExt cx="10667520" cy="904680"/>
          </a:xfrm>
        </p:grpSpPr>
        <p:sp>
          <p:nvSpPr>
            <p:cNvPr id="470" name="Rectangle 85"/>
            <p:cNvSpPr/>
            <p:nvPr/>
          </p:nvSpPr>
          <p:spPr>
            <a:xfrm>
              <a:off x="762120" y="5095800"/>
              <a:ext cx="10667520" cy="904680"/>
            </a:xfrm>
            <a:prstGeom prst="roundRect">
              <a:avLst>
                <a:gd name="adj" fmla="val 8421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TextBox 86"/>
            <p:cNvSpPr/>
            <p:nvPr/>
          </p:nvSpPr>
          <p:spPr>
            <a:xfrm>
              <a:off x="994320" y="5260320"/>
              <a:ext cx="548784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12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TRANSACTION ISOLATION &amp; DATA SAFETY GUARANTEE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TextBox 87"/>
            <p:cNvSpPr/>
            <p:nvPr/>
          </p:nvSpPr>
          <p:spPr>
            <a:xfrm>
              <a:off x="994680" y="5506560"/>
              <a:ext cx="68454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effectLst/>
                  <a:uFillTx/>
                  <a:latin typeface="Times New Roman"/>
                  <a:ea typeface="Times New Roman"/>
                </a:rPr>
                <a:t>All order updates are wrapped in explicit database transaction blocks with atomic rollbacks. If an order placement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3" name="TextBox 88"/>
            <p:cNvSpPr/>
            <p:nvPr/>
          </p:nvSpPr>
          <p:spPr>
            <a:xfrm>
              <a:off x="994680" y="5697000"/>
              <a:ext cx="70354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475569"/>
                  </a:solidFill>
                  <a:effectLst/>
                  <a:uFillTx/>
                  <a:latin typeface="Times New Roman"/>
                  <a:ea typeface="Times New Roman"/>
                </a:rPr>
                <a:t>fails midway (e.g. invalid voucher or network timeout), the transaction is cleanly aborted with zero orphaned records.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74" name="footer"/>
          <p:cNvGrpSpPr/>
          <p:nvPr/>
        </p:nvGrpSpPr>
        <p:grpSpPr>
          <a:xfrm>
            <a:off x="757080" y="6238800"/>
            <a:ext cx="10677600" cy="342360"/>
            <a:chOff x="757080" y="6238800"/>
            <a:chExt cx="10677600" cy="342360"/>
          </a:xfrm>
        </p:grpSpPr>
        <p:sp>
          <p:nvSpPr>
            <p:cNvPr id="475" name="Line 90"/>
            <p:cNvSpPr/>
            <p:nvPr/>
          </p:nvSpPr>
          <p:spPr>
            <a:xfrm>
              <a:off x="762120" y="623880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TextBox 91"/>
            <p:cNvSpPr/>
            <p:nvPr/>
          </p:nvSpPr>
          <p:spPr>
            <a:xfrm>
              <a:off x="757080" y="6390720"/>
              <a:ext cx="4138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Graduation Thesis Defense: Full-Stack Restaurant Management System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7" name="TextBox 92"/>
            <p:cNvSpPr/>
            <p:nvPr/>
          </p:nvSpPr>
          <p:spPr>
            <a:xfrm>
              <a:off x="10686240" y="6390720"/>
              <a:ext cx="748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Slide 09 / 20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decorations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479" name="Line 2"/>
            <p:cNvSpPr/>
            <p:nvPr/>
          </p:nvSpPr>
          <p:spPr>
            <a:xfrm>
              <a:off x="762120" y="0"/>
              <a:ext cx="9000" cy="6857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0" name="Line 3"/>
            <p:cNvSpPr/>
            <p:nvPr/>
          </p:nvSpPr>
          <p:spPr>
            <a:xfrm>
              <a:off x="11430000" y="0"/>
              <a:ext cx="9000" cy="6857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Line 4"/>
            <p:cNvSpPr/>
            <p:nvPr/>
          </p:nvSpPr>
          <p:spPr>
            <a:xfrm>
              <a:off x="0" y="6095880"/>
              <a:ext cx="12191760" cy="900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2" name="accent-graphics"/>
          <p:cNvGrpSpPr/>
          <p:nvPr/>
        </p:nvGrpSpPr>
        <p:grpSpPr>
          <a:xfrm>
            <a:off x="762120" y="380880"/>
            <a:ext cx="11238840" cy="3619440"/>
            <a:chOff x="762120" y="380880"/>
            <a:chExt cx="11238840" cy="3619440"/>
          </a:xfrm>
        </p:grpSpPr>
        <p:sp>
          <p:nvSpPr>
            <p:cNvPr id="483" name="Rectangle 6"/>
            <p:cNvSpPr/>
            <p:nvPr/>
          </p:nvSpPr>
          <p:spPr>
            <a:xfrm>
              <a:off x="762120" y="2286000"/>
              <a:ext cx="75960" cy="17143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4" name="Ellipse 7"/>
            <p:cNvSpPr/>
            <p:nvPr/>
          </p:nvSpPr>
          <p:spPr>
            <a:xfrm>
              <a:off x="9334440" y="380880"/>
              <a:ext cx="2666520" cy="2666520"/>
            </a:xfrm>
            <a:prstGeom prst="ellipse">
              <a:avLst/>
            </a:prstGeom>
            <a:solidFill>
              <a:srgbClr val="1e293b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5" name="Ellipse 8"/>
            <p:cNvSpPr/>
            <p:nvPr/>
          </p:nvSpPr>
          <p:spPr>
            <a:xfrm>
              <a:off x="9810720" y="857160"/>
              <a:ext cx="1714320" cy="1714320"/>
            </a:xfrm>
            <a:prstGeom prst="ellipse">
              <a:avLst/>
            </a:prstGeom>
            <a:solidFill>
              <a:srgbClr val="0f172a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6" name="section-badge"/>
          <p:cNvGrpSpPr/>
          <p:nvPr/>
        </p:nvGrpSpPr>
        <p:grpSpPr>
          <a:xfrm>
            <a:off x="1143000" y="2095560"/>
            <a:ext cx="1428480" cy="323640"/>
            <a:chOff x="1143000" y="2095560"/>
            <a:chExt cx="1428480" cy="323640"/>
          </a:xfrm>
        </p:grpSpPr>
        <p:sp>
          <p:nvSpPr>
            <p:cNvPr id="487" name="Rectangle 10"/>
            <p:cNvSpPr/>
            <p:nvPr/>
          </p:nvSpPr>
          <p:spPr>
            <a:xfrm>
              <a:off x="1143000" y="2095560"/>
              <a:ext cx="1428480" cy="32364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 w="14288">
              <a:solidFill>
                <a:srgbClr val="d9770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8" name="TextBox 11"/>
            <p:cNvSpPr/>
            <p:nvPr/>
          </p:nvSpPr>
          <p:spPr>
            <a:xfrm>
              <a:off x="1272240" y="2191680"/>
              <a:ext cx="11700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050" spc="74" strike="noStrike" u="none">
                  <a:solidFill>
                    <a:srgbClr val="fbbf24"/>
                  </a:solidFill>
                  <a:effectLst/>
                  <a:uFillTx/>
                  <a:latin typeface="Times New Roman"/>
                  <a:ea typeface="Times New Roman"/>
                </a:rPr>
                <a:t>SECTION 03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9" name="section-content"/>
          <p:cNvGrpSpPr/>
          <p:nvPr/>
        </p:nvGrpSpPr>
        <p:grpSpPr>
          <a:xfrm>
            <a:off x="1126080" y="2691720"/>
            <a:ext cx="7167240" cy="1011240"/>
            <a:chOff x="1126080" y="2691720"/>
            <a:chExt cx="7167240" cy="1011240"/>
          </a:xfrm>
        </p:grpSpPr>
        <p:sp>
          <p:nvSpPr>
            <p:cNvPr id="490" name="TextBox 13"/>
            <p:cNvSpPr/>
            <p:nvPr/>
          </p:nvSpPr>
          <p:spPr>
            <a:xfrm>
              <a:off x="1126080" y="2691720"/>
              <a:ext cx="632916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33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Technology Stack Justification</a:t>
              </a:r>
              <a:endPara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1" name="TextBox 14"/>
            <p:cNvSpPr/>
            <p:nvPr/>
          </p:nvSpPr>
          <p:spPr>
            <a:xfrm>
              <a:off x="1135440" y="3409920"/>
              <a:ext cx="715788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50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Comparative Analysis &amp; Technical Evaluation: Frontend, Backend, and Database</a:t>
              </a:r>
              <a:endPara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92" name="footer"/>
          <p:cNvGrpSpPr/>
          <p:nvPr/>
        </p:nvGrpSpPr>
        <p:grpSpPr>
          <a:xfrm>
            <a:off x="1137600" y="6220800"/>
            <a:ext cx="9916560" cy="204840"/>
            <a:chOff x="1137600" y="6220800"/>
            <a:chExt cx="9916560" cy="204840"/>
          </a:xfrm>
        </p:grpSpPr>
        <p:sp>
          <p:nvSpPr>
            <p:cNvPr id="493" name="TextBox 16"/>
            <p:cNvSpPr/>
            <p:nvPr/>
          </p:nvSpPr>
          <p:spPr>
            <a:xfrm>
              <a:off x="1137600" y="6220800"/>
              <a:ext cx="40154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Restaurant Management System | Graduation Thesis Presentation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4" name="TextBox 17"/>
            <p:cNvSpPr/>
            <p:nvPr/>
          </p:nvSpPr>
          <p:spPr>
            <a:xfrm>
              <a:off x="10252080" y="6220800"/>
              <a:ext cx="8020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Slide 10 / 20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header"/>
          <p:cNvGrpSpPr/>
          <p:nvPr/>
        </p:nvGrpSpPr>
        <p:grpSpPr>
          <a:xfrm>
            <a:off x="750600" y="542520"/>
            <a:ext cx="10679040" cy="644760"/>
            <a:chOff x="750600" y="542520"/>
            <a:chExt cx="10679040" cy="644760"/>
          </a:xfrm>
        </p:grpSpPr>
        <p:sp>
          <p:nvSpPr>
            <p:cNvPr id="496" name="TextBox 2"/>
            <p:cNvSpPr/>
            <p:nvPr/>
          </p:nvSpPr>
          <p:spPr>
            <a:xfrm>
              <a:off x="757080" y="542520"/>
              <a:ext cx="43588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pc="74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03. TECHNOLOGIES | FRONT-END ECOSYSTEM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7" name="TextBox 3"/>
            <p:cNvSpPr/>
            <p:nvPr/>
          </p:nvSpPr>
          <p:spPr>
            <a:xfrm>
              <a:off x="750600" y="747720"/>
              <a:ext cx="657540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2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Front-end Engineering Stack &amp;amp; Libraries</a:t>
              </a:r>
              <a:endParaRPr b="0" lang="en-US" sz="22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8" name="Line 4"/>
            <p:cNvSpPr/>
            <p:nvPr/>
          </p:nvSpPr>
          <p:spPr>
            <a:xfrm>
              <a:off x="762120" y="116208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99" name="frontend-grid"/>
          <p:cNvGrpSpPr/>
          <p:nvPr/>
        </p:nvGrpSpPr>
        <p:grpSpPr>
          <a:xfrm>
            <a:off x="762120" y="1428840"/>
            <a:ext cx="11027160" cy="4571640"/>
            <a:chOff x="762120" y="1428840"/>
            <a:chExt cx="11027160" cy="4571640"/>
          </a:xfrm>
        </p:grpSpPr>
        <p:sp>
          <p:nvSpPr>
            <p:cNvPr id="500" name="Rectangle 6"/>
            <p:cNvSpPr/>
            <p:nvPr/>
          </p:nvSpPr>
          <p:spPr>
            <a:xfrm>
              <a:off x="762120" y="1428840"/>
              <a:ext cx="5143320" cy="214272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1" name="Rectangle 7"/>
            <p:cNvSpPr/>
            <p:nvPr/>
          </p:nvSpPr>
          <p:spPr>
            <a:xfrm>
              <a:off x="762120" y="1428840"/>
              <a:ext cx="75960" cy="214272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2" name="TextBox 8"/>
            <p:cNvSpPr/>
            <p:nvPr/>
          </p:nvSpPr>
          <p:spPr>
            <a:xfrm>
              <a:off x="1040040" y="1647720"/>
              <a:ext cx="197964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284c7"/>
                  </a:solidFill>
                  <a:effectLst/>
                  <a:uFillTx/>
                  <a:latin typeface="Times New Roman"/>
                  <a:ea typeface="Times New Roman"/>
                </a:rPr>
                <a:t>React 19.2 + Vite 7.2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3" name="TextBox 9"/>
            <p:cNvSpPr/>
            <p:nvPr/>
          </p:nvSpPr>
          <p:spPr>
            <a:xfrm>
              <a:off x="1042560" y="1934640"/>
              <a:ext cx="29192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UI Component Framework &amp; Modern Bundler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4" name="Line 10"/>
            <p:cNvSpPr/>
            <p:nvPr/>
          </p:nvSpPr>
          <p:spPr>
            <a:xfrm>
              <a:off x="1047600" y="2171880"/>
              <a:ext cx="4571640" cy="900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5" name="TextBox 11"/>
            <p:cNvSpPr/>
            <p:nvPr/>
          </p:nvSpPr>
          <p:spPr>
            <a:xfrm>
              <a:off x="1042560" y="2315520"/>
              <a:ext cx="22770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Component-Driven Architecture: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6" name="TextBox 12"/>
            <p:cNvSpPr/>
            <p:nvPr/>
          </p:nvSpPr>
          <p:spPr>
            <a:xfrm>
              <a:off x="1042560" y="2505960"/>
              <a:ext cx="42282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Declarative component tree enables high reusability across 30+ pages.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TextBox 13"/>
            <p:cNvSpPr/>
            <p:nvPr/>
          </p:nvSpPr>
          <p:spPr>
            <a:xfrm>
              <a:off x="1042560" y="2791800"/>
              <a:ext cx="29156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Sub-Second Development Feedback (Vite):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TextBox 14"/>
            <p:cNvSpPr/>
            <p:nvPr/>
          </p:nvSpPr>
          <p:spPr>
            <a:xfrm>
              <a:off x="1042560" y="2982240"/>
              <a:ext cx="52106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Native ES-module Hot Module Replacement (HMR) speeds up development cycles.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TextBox 15"/>
            <p:cNvSpPr/>
            <p:nvPr/>
          </p:nvSpPr>
          <p:spPr>
            <a:xfrm>
              <a:off x="1042920" y="3276000"/>
              <a:ext cx="48618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0284c7"/>
                  </a:solidFill>
                  <a:effectLst/>
                  <a:uFillTx/>
                  <a:latin typeface="Times New Roman"/>
                  <a:ea typeface="Times New Roman"/>
                </a:rPr>
                <a:t>Academic Justification: Superior Virtual DOM diffing &amp; concurrent rendering.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Rectangle 16"/>
            <p:cNvSpPr/>
            <p:nvPr/>
          </p:nvSpPr>
          <p:spPr>
            <a:xfrm>
              <a:off x="6286680" y="1428840"/>
              <a:ext cx="5143320" cy="214272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Rectangle 17"/>
            <p:cNvSpPr/>
            <p:nvPr/>
          </p:nvSpPr>
          <p:spPr>
            <a:xfrm>
              <a:off x="6286680" y="1428840"/>
              <a:ext cx="75960" cy="21427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2" name="TextBox 18"/>
            <p:cNvSpPr/>
            <p:nvPr/>
          </p:nvSpPr>
          <p:spPr>
            <a:xfrm>
              <a:off x="6564600" y="1647720"/>
              <a:ext cx="247356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ea580c"/>
                  </a:solidFill>
                  <a:effectLst/>
                  <a:uFillTx/>
                  <a:latin typeface="Times New Roman"/>
                  <a:ea typeface="Times New Roman"/>
                </a:rPr>
                <a:t>TanStack React Query v5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3" name="TextBox 19"/>
            <p:cNvSpPr/>
            <p:nvPr/>
          </p:nvSpPr>
          <p:spPr>
            <a:xfrm>
              <a:off x="6566760" y="1934640"/>
              <a:ext cx="32256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Asynchronous Server State Management &amp; Caching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4" name="Line 20"/>
            <p:cNvSpPr/>
            <p:nvPr/>
          </p:nvSpPr>
          <p:spPr>
            <a:xfrm>
              <a:off x="6572160" y="2171880"/>
              <a:ext cx="4571640" cy="900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TextBox 21"/>
            <p:cNvSpPr/>
            <p:nvPr/>
          </p:nvSpPr>
          <p:spPr>
            <a:xfrm>
              <a:off x="6566760" y="2315520"/>
              <a:ext cx="23115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Automated Server State Caching: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TextBox 22"/>
            <p:cNvSpPr/>
            <p:nvPr/>
          </p:nvSpPr>
          <p:spPr>
            <a:xfrm>
              <a:off x="6566760" y="2505960"/>
              <a:ext cx="43671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Eliminates manual Redux boilerplate; manages stale times &amp; refetching.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TextBox 23"/>
            <p:cNvSpPr/>
            <p:nvPr/>
          </p:nvSpPr>
          <p:spPr>
            <a:xfrm>
              <a:off x="6566760" y="2791800"/>
              <a:ext cx="28915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Window Focus &amp; Polling Synchronization: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8" name="TextBox 24"/>
            <p:cNvSpPr/>
            <p:nvPr/>
          </p:nvSpPr>
          <p:spPr>
            <a:xfrm>
              <a:off x="6566760" y="2982240"/>
              <a:ext cx="46285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Kitchen and order screens automatically stay synchronized with fresh orders.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9" name="TextBox 25"/>
            <p:cNvSpPr/>
            <p:nvPr/>
          </p:nvSpPr>
          <p:spPr>
            <a:xfrm>
              <a:off x="6567120" y="3276000"/>
              <a:ext cx="46908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ea580c"/>
                  </a:solidFill>
                  <a:effectLst/>
                  <a:uFillTx/>
                  <a:latin typeface="Times New Roman"/>
                  <a:ea typeface="Times New Roman"/>
                </a:rPr>
                <a:t>Academic Justification: Decouples server state from ephemeral local UI state.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0" name="Rectangle 26"/>
            <p:cNvSpPr/>
            <p:nvPr/>
          </p:nvSpPr>
          <p:spPr>
            <a:xfrm>
              <a:off x="762120" y="3762360"/>
              <a:ext cx="5143320" cy="223812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1" name="Rectangle 27"/>
            <p:cNvSpPr/>
            <p:nvPr/>
          </p:nvSpPr>
          <p:spPr>
            <a:xfrm>
              <a:off x="762120" y="3762360"/>
              <a:ext cx="75960" cy="223812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2" name="TextBox 28"/>
            <p:cNvSpPr/>
            <p:nvPr/>
          </p:nvSpPr>
          <p:spPr>
            <a:xfrm>
              <a:off x="1040040" y="3981600"/>
              <a:ext cx="165384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59669"/>
                  </a:solidFill>
                  <a:effectLst/>
                  <a:uFillTx/>
                  <a:latin typeface="Times New Roman"/>
                  <a:ea typeface="Times New Roman"/>
                </a:rPr>
                <a:t>Tailwind CSS v4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3" name="TextBox 29"/>
            <p:cNvSpPr/>
            <p:nvPr/>
          </p:nvSpPr>
          <p:spPr>
            <a:xfrm>
              <a:off x="1042560" y="4268160"/>
              <a:ext cx="31550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Utility-First Design System &amp; Responsive Layouts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4" name="Line 30"/>
            <p:cNvSpPr/>
            <p:nvPr/>
          </p:nvSpPr>
          <p:spPr>
            <a:xfrm>
              <a:off x="1047600" y="4505400"/>
              <a:ext cx="4571640" cy="900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TextBox 31"/>
            <p:cNvSpPr/>
            <p:nvPr/>
          </p:nvSpPr>
          <p:spPr>
            <a:xfrm>
              <a:off x="1042560" y="4649040"/>
              <a:ext cx="19652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Atomic CSS Utility Tokens: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TextBox 32"/>
            <p:cNvSpPr/>
            <p:nvPr/>
          </p:nvSpPr>
          <p:spPr>
            <a:xfrm>
              <a:off x="1042560" y="4839480"/>
              <a:ext cx="48783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Ensures uniform design tokens (colors, spacing, typography) without CSS bloat.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7" name="TextBox 33"/>
            <p:cNvSpPr/>
            <p:nvPr/>
          </p:nvSpPr>
          <p:spPr>
            <a:xfrm>
              <a:off x="1042560" y="5125320"/>
              <a:ext cx="26607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Mobile-First Viewport Responsiveness: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8" name="TextBox 34"/>
            <p:cNvSpPr/>
            <p:nvPr/>
          </p:nvSpPr>
          <p:spPr>
            <a:xfrm>
              <a:off x="1042560" y="5315760"/>
              <a:ext cx="51577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Seamlessly transitions from handheld smartphones (couriers) to large KDS monitors.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9" name="TextBox 35"/>
            <p:cNvSpPr/>
            <p:nvPr/>
          </p:nvSpPr>
          <p:spPr>
            <a:xfrm>
              <a:off x="1042920" y="5657400"/>
              <a:ext cx="50706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059669"/>
                  </a:solidFill>
                  <a:effectLst/>
                  <a:uFillTx/>
                  <a:latin typeface="Times New Roman"/>
                  <a:ea typeface="Times New Roman"/>
                </a:rPr>
                <a:t>Academic Justification: Zero runtime CSS overhead via ahead-of-time compilation.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0" name="Rectangle 36"/>
            <p:cNvSpPr/>
            <p:nvPr/>
          </p:nvSpPr>
          <p:spPr>
            <a:xfrm>
              <a:off x="6286680" y="3762360"/>
              <a:ext cx="5143320" cy="223812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1" name="Rectangle 37"/>
            <p:cNvSpPr/>
            <p:nvPr/>
          </p:nvSpPr>
          <p:spPr>
            <a:xfrm>
              <a:off x="6286680" y="3762360"/>
              <a:ext cx="75960" cy="223812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2" name="TextBox 38"/>
            <p:cNvSpPr/>
            <p:nvPr/>
          </p:nvSpPr>
          <p:spPr>
            <a:xfrm>
              <a:off x="6564600" y="3981600"/>
              <a:ext cx="304812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7c3aed"/>
                  </a:solidFill>
                  <a:effectLst/>
                  <a:uFillTx/>
                  <a:latin typeface="Times New Roman"/>
                  <a:ea typeface="Times New Roman"/>
                </a:rPr>
                <a:t>React Router DOM v7 &amp; Axios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3" name="TextBox 39"/>
            <p:cNvSpPr/>
            <p:nvPr/>
          </p:nvSpPr>
          <p:spPr>
            <a:xfrm>
              <a:off x="6566760" y="4268160"/>
              <a:ext cx="33282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Client Navigation &amp; Intercepted API Communication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4" name="Line 40"/>
            <p:cNvSpPr/>
            <p:nvPr/>
          </p:nvSpPr>
          <p:spPr>
            <a:xfrm>
              <a:off x="6572160" y="4505400"/>
              <a:ext cx="4571640" cy="900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5" name="TextBox 41"/>
            <p:cNvSpPr/>
            <p:nvPr/>
          </p:nvSpPr>
          <p:spPr>
            <a:xfrm>
              <a:off x="6566760" y="4649040"/>
              <a:ext cx="26521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Declarative Role-Based Route Guards: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6" name="TextBox 42"/>
            <p:cNvSpPr/>
            <p:nvPr/>
          </p:nvSpPr>
          <p:spPr>
            <a:xfrm>
              <a:off x="6566760" y="4839480"/>
              <a:ext cx="45543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Protects manager, staff, and chef views from unauthorized customer access.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7" name="TextBox 43"/>
            <p:cNvSpPr/>
            <p:nvPr/>
          </p:nvSpPr>
          <p:spPr>
            <a:xfrm>
              <a:off x="6566760" y="5125320"/>
              <a:ext cx="26654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Centralized Axios HTTP Interceptors: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TextBox 44"/>
            <p:cNvSpPr/>
            <p:nvPr/>
          </p:nvSpPr>
          <p:spPr>
            <a:xfrm>
              <a:off x="6566760" y="5315760"/>
              <a:ext cx="52156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Injects Bearer JWT headers on requests and gracefully handles 401 token expirations.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TextBox 45"/>
            <p:cNvSpPr/>
            <p:nvPr/>
          </p:nvSpPr>
          <p:spPr>
            <a:xfrm>
              <a:off x="6567120" y="5657400"/>
              <a:ext cx="52221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7c3aed"/>
                  </a:solidFill>
                  <a:effectLst/>
                  <a:uFillTx/>
                  <a:latin typeface="Times New Roman"/>
                  <a:ea typeface="Times New Roman"/>
                </a:rPr>
                <a:t>Academic Justification: Robust client-side security barriers and consistent networking.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40" name="footer"/>
          <p:cNvGrpSpPr/>
          <p:nvPr/>
        </p:nvGrpSpPr>
        <p:grpSpPr>
          <a:xfrm>
            <a:off x="757080" y="6238800"/>
            <a:ext cx="10677600" cy="342360"/>
            <a:chOff x="757080" y="6238800"/>
            <a:chExt cx="10677600" cy="342360"/>
          </a:xfrm>
        </p:grpSpPr>
        <p:sp>
          <p:nvSpPr>
            <p:cNvPr id="541" name="Line 47"/>
            <p:cNvSpPr/>
            <p:nvPr/>
          </p:nvSpPr>
          <p:spPr>
            <a:xfrm>
              <a:off x="762120" y="623880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TextBox 48"/>
            <p:cNvSpPr/>
            <p:nvPr/>
          </p:nvSpPr>
          <p:spPr>
            <a:xfrm>
              <a:off x="757080" y="6390720"/>
              <a:ext cx="4138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Graduation Thesis Defense: Full-Stack Restaurant Management System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TextBox 49"/>
            <p:cNvSpPr/>
            <p:nvPr/>
          </p:nvSpPr>
          <p:spPr>
            <a:xfrm>
              <a:off x="10686240" y="6390720"/>
              <a:ext cx="748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Slide 11 / 20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header"/>
          <p:cNvGrpSpPr/>
          <p:nvPr/>
        </p:nvGrpSpPr>
        <p:grpSpPr>
          <a:xfrm>
            <a:off x="750600" y="542520"/>
            <a:ext cx="10679040" cy="644760"/>
            <a:chOff x="750600" y="542520"/>
            <a:chExt cx="10679040" cy="644760"/>
          </a:xfrm>
        </p:grpSpPr>
        <p:sp>
          <p:nvSpPr>
            <p:cNvPr id="545" name="TextBox 2"/>
            <p:cNvSpPr/>
            <p:nvPr/>
          </p:nvSpPr>
          <p:spPr>
            <a:xfrm>
              <a:off x="757080" y="542520"/>
              <a:ext cx="44618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pc="74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03. TECHNOLOGIES | BACK-END FRAMEWORKS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6" name="TextBox 3"/>
            <p:cNvSpPr/>
            <p:nvPr/>
          </p:nvSpPr>
          <p:spPr>
            <a:xfrm>
              <a:off x="750600" y="747720"/>
              <a:ext cx="819972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2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Back-end Engineering Stack &amp;amp; Security Architecture</a:t>
              </a:r>
              <a:endParaRPr b="0" lang="en-US" sz="22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7" name="Line 4"/>
            <p:cNvSpPr/>
            <p:nvPr/>
          </p:nvSpPr>
          <p:spPr>
            <a:xfrm>
              <a:off x="762120" y="116208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48" name="backend-grid"/>
          <p:cNvGrpSpPr/>
          <p:nvPr/>
        </p:nvGrpSpPr>
        <p:grpSpPr>
          <a:xfrm>
            <a:off x="762120" y="1428840"/>
            <a:ext cx="11035440" cy="4571640"/>
            <a:chOff x="762120" y="1428840"/>
            <a:chExt cx="11035440" cy="4571640"/>
          </a:xfrm>
        </p:grpSpPr>
        <p:sp>
          <p:nvSpPr>
            <p:cNvPr id="549" name="Rectangle 6"/>
            <p:cNvSpPr/>
            <p:nvPr/>
          </p:nvSpPr>
          <p:spPr>
            <a:xfrm>
              <a:off x="762120" y="1428840"/>
              <a:ext cx="5143320" cy="214272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0" name="Rectangle 7"/>
            <p:cNvSpPr/>
            <p:nvPr/>
          </p:nvSpPr>
          <p:spPr>
            <a:xfrm>
              <a:off x="762120" y="1428840"/>
              <a:ext cx="75960" cy="214272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1" name="TextBox 8"/>
            <p:cNvSpPr/>
            <p:nvPr/>
          </p:nvSpPr>
          <p:spPr>
            <a:xfrm>
              <a:off x="1040040" y="1647720"/>
              <a:ext cx="271476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59669"/>
                  </a:solidFill>
                  <a:effectLst/>
                  <a:uFillTx/>
                  <a:latin typeface="Times New Roman"/>
                  <a:ea typeface="Times New Roman"/>
                </a:rPr>
                <a:t>FastAPI + Uvicorn (ASGI)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2" name="TextBox 9"/>
            <p:cNvSpPr/>
            <p:nvPr/>
          </p:nvSpPr>
          <p:spPr>
            <a:xfrm>
              <a:off x="1042560" y="1934640"/>
              <a:ext cx="33573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High-Concurrency Asynchronous REST API Engine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3" name="Line 10"/>
            <p:cNvSpPr/>
            <p:nvPr/>
          </p:nvSpPr>
          <p:spPr>
            <a:xfrm>
              <a:off x="1047600" y="2171880"/>
              <a:ext cx="4571640" cy="900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TextBox 11"/>
            <p:cNvSpPr/>
            <p:nvPr/>
          </p:nvSpPr>
          <p:spPr>
            <a:xfrm>
              <a:off x="1042560" y="2315520"/>
              <a:ext cx="28404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Asynchronous Event-Driven Throughput: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TextBox 12"/>
            <p:cNvSpPr/>
            <p:nvPr/>
          </p:nvSpPr>
          <p:spPr>
            <a:xfrm>
              <a:off x="1042560" y="2505960"/>
              <a:ext cx="51897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Native async/await event loop handles high concurrent connections with low memory.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6" name="TextBox 13"/>
            <p:cNvSpPr/>
            <p:nvPr/>
          </p:nvSpPr>
          <p:spPr>
            <a:xfrm>
              <a:off x="1042560" y="2791800"/>
              <a:ext cx="26103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Automatic Interactive Documentation: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7" name="TextBox 14"/>
            <p:cNvSpPr/>
            <p:nvPr/>
          </p:nvSpPr>
          <p:spPr>
            <a:xfrm>
              <a:off x="1042560" y="2982240"/>
              <a:ext cx="47772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Generates OpenAPI (Swagger) specifications directly from Python type hints.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8" name="TextBox 15"/>
            <p:cNvSpPr/>
            <p:nvPr/>
          </p:nvSpPr>
          <p:spPr>
            <a:xfrm>
              <a:off x="1042920" y="3276000"/>
              <a:ext cx="47941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059669"/>
                  </a:solidFill>
                  <a:effectLst/>
                  <a:uFillTx/>
                  <a:latin typeface="Times New Roman"/>
                  <a:ea typeface="Times New Roman"/>
                </a:rPr>
                <a:t>Academic Justification: Matches Node.js/Go benchmark speeds within Python.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9" name="Rectangle 16"/>
            <p:cNvSpPr/>
            <p:nvPr/>
          </p:nvSpPr>
          <p:spPr>
            <a:xfrm>
              <a:off x="6286680" y="1428840"/>
              <a:ext cx="5143320" cy="214272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0" name="Rectangle 17"/>
            <p:cNvSpPr/>
            <p:nvPr/>
          </p:nvSpPr>
          <p:spPr>
            <a:xfrm>
              <a:off x="6286680" y="1428840"/>
              <a:ext cx="75960" cy="214272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1" name="TextBox 18"/>
            <p:cNvSpPr/>
            <p:nvPr/>
          </p:nvSpPr>
          <p:spPr>
            <a:xfrm>
              <a:off x="6564600" y="1647720"/>
              <a:ext cx="266508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284c7"/>
                  </a:solidFill>
                  <a:effectLst/>
                  <a:uFillTx/>
                  <a:latin typeface="Times New Roman"/>
                  <a:ea typeface="Times New Roman"/>
                </a:rPr>
                <a:t>Pydantic v2 Data Validation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2" name="TextBox 19"/>
            <p:cNvSpPr/>
            <p:nvPr/>
          </p:nvSpPr>
          <p:spPr>
            <a:xfrm>
              <a:off x="6566760" y="1934640"/>
              <a:ext cx="33818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Rust-Backed DTO Validation &amp; Schema Serialization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3" name="Line 20"/>
            <p:cNvSpPr/>
            <p:nvPr/>
          </p:nvSpPr>
          <p:spPr>
            <a:xfrm>
              <a:off x="6572160" y="2171880"/>
              <a:ext cx="4571640" cy="900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TextBox 21"/>
            <p:cNvSpPr/>
            <p:nvPr/>
          </p:nvSpPr>
          <p:spPr>
            <a:xfrm>
              <a:off x="6566760" y="2315520"/>
              <a:ext cx="26586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Strict Request Boundary Enforcement: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5" name="TextBox 22"/>
            <p:cNvSpPr/>
            <p:nvPr/>
          </p:nvSpPr>
          <p:spPr>
            <a:xfrm>
              <a:off x="6566760" y="2505960"/>
              <a:ext cx="50490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Ensures incoming order items, quantities, and phone numbers match exact schemas.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6" name="TextBox 23"/>
            <p:cNvSpPr/>
            <p:nvPr/>
          </p:nvSpPr>
          <p:spPr>
            <a:xfrm>
              <a:off x="6566760" y="2791800"/>
              <a:ext cx="29300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High-Performance Parsing (pydantic-core):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7" name="TextBox 24"/>
            <p:cNvSpPr/>
            <p:nvPr/>
          </p:nvSpPr>
          <p:spPr>
            <a:xfrm>
              <a:off x="6566760" y="2982240"/>
              <a:ext cx="49492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Compiled Rust core yields 5x to 15x faster serialization compared to Pydantic v1.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8" name="TextBox 25"/>
            <p:cNvSpPr/>
            <p:nvPr/>
          </p:nvSpPr>
          <p:spPr>
            <a:xfrm>
              <a:off x="6567120" y="3276000"/>
              <a:ext cx="5134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0284c7"/>
                  </a:solidFill>
                  <a:effectLst/>
                  <a:uFillTx/>
                  <a:latin typeface="Times New Roman"/>
                  <a:ea typeface="Times New Roman"/>
                </a:rPr>
                <a:t>Academic Justification: Prevents malformed inputs from polluting the business layer.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9" name="Rectangle 26"/>
            <p:cNvSpPr/>
            <p:nvPr/>
          </p:nvSpPr>
          <p:spPr>
            <a:xfrm>
              <a:off x="762120" y="3762360"/>
              <a:ext cx="5143320" cy="223812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0" name="Rectangle 27"/>
            <p:cNvSpPr/>
            <p:nvPr/>
          </p:nvSpPr>
          <p:spPr>
            <a:xfrm>
              <a:off x="762120" y="3762360"/>
              <a:ext cx="75960" cy="223812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1" name="TextBox 28"/>
            <p:cNvSpPr/>
            <p:nvPr/>
          </p:nvSpPr>
          <p:spPr>
            <a:xfrm>
              <a:off x="1040040" y="3981600"/>
              <a:ext cx="238788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7c3aed"/>
                  </a:solidFill>
                  <a:effectLst/>
                  <a:uFillTx/>
                  <a:latin typeface="Times New Roman"/>
                  <a:ea typeface="Times New Roman"/>
                </a:rPr>
                <a:t>SQLAlchemy 2.0 ORM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" name="TextBox 29"/>
            <p:cNvSpPr/>
            <p:nvPr/>
          </p:nvSpPr>
          <p:spPr>
            <a:xfrm>
              <a:off x="1042560" y="4268160"/>
              <a:ext cx="30340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Object-Relational Mapping &amp; Repository Pattern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3" name="Line 30"/>
            <p:cNvSpPr/>
            <p:nvPr/>
          </p:nvSpPr>
          <p:spPr>
            <a:xfrm>
              <a:off x="1047600" y="2171880"/>
              <a:ext cx="4571640" cy="900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" name="TextBox 31"/>
            <p:cNvSpPr/>
            <p:nvPr/>
          </p:nvSpPr>
          <p:spPr>
            <a:xfrm>
              <a:off x="1042560" y="4649040"/>
              <a:ext cx="25653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Repository &amp; Unit-of-Work Patterns: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5" name="TextBox 32"/>
            <p:cNvSpPr/>
            <p:nvPr/>
          </p:nvSpPr>
          <p:spPr>
            <a:xfrm>
              <a:off x="1042560" y="4839480"/>
              <a:ext cx="49899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Abstracts raw SQL behind testable domain interfaces; decouples database queries.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6" name="TextBox 33"/>
            <p:cNvSpPr/>
            <p:nvPr/>
          </p:nvSpPr>
          <p:spPr>
            <a:xfrm>
              <a:off x="1042560" y="5125320"/>
              <a:ext cx="20624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Atomic Transaction Integrity: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" name="TextBox 34"/>
            <p:cNvSpPr/>
            <p:nvPr/>
          </p:nvSpPr>
          <p:spPr>
            <a:xfrm>
              <a:off x="1042560" y="5315760"/>
              <a:ext cx="48261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Ensures cross-table inserts (Orders, OrderItems, Payments) commit atomically.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8" name="TextBox 35"/>
            <p:cNvSpPr/>
            <p:nvPr/>
          </p:nvSpPr>
          <p:spPr>
            <a:xfrm>
              <a:off x="1042920" y="5657400"/>
              <a:ext cx="52617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7c3aed"/>
                  </a:solidFill>
                  <a:effectLst/>
                  <a:uFillTx/>
                  <a:latin typeface="Times New Roman"/>
                  <a:ea typeface="Times New Roman"/>
                </a:rPr>
                <a:t>Academic Justification: Protects business logic from vendor lock-in and SQL injection.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9" name="Rectangle 36"/>
            <p:cNvSpPr/>
            <p:nvPr/>
          </p:nvSpPr>
          <p:spPr>
            <a:xfrm>
              <a:off x="6286680" y="3762360"/>
              <a:ext cx="5143320" cy="223812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0" name="Rectangle 37"/>
            <p:cNvSpPr/>
            <p:nvPr/>
          </p:nvSpPr>
          <p:spPr>
            <a:xfrm>
              <a:off x="6286680" y="3762360"/>
              <a:ext cx="75960" cy="223812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1" name="TextBox 38"/>
            <p:cNvSpPr/>
            <p:nvPr/>
          </p:nvSpPr>
          <p:spPr>
            <a:xfrm>
              <a:off x="6564600" y="3981600"/>
              <a:ext cx="287892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dc2626"/>
                  </a:solidFill>
                  <a:effectLst/>
                  <a:uFillTx/>
                  <a:latin typeface="Times New Roman"/>
                  <a:ea typeface="Times New Roman"/>
                </a:rPr>
                <a:t>Security: python-jose &amp; bcrypt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2" name="TextBox 39"/>
            <p:cNvSpPr/>
            <p:nvPr/>
          </p:nvSpPr>
          <p:spPr>
            <a:xfrm>
              <a:off x="6566760" y="4268160"/>
              <a:ext cx="31071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Stateless Authentication &amp; Cryptographic Hashing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3" name="Line 40"/>
            <p:cNvSpPr/>
            <p:nvPr/>
          </p:nvSpPr>
          <p:spPr>
            <a:xfrm>
              <a:off x="6572160" y="4505400"/>
              <a:ext cx="4571640" cy="900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4" name="TextBox 41"/>
            <p:cNvSpPr/>
            <p:nvPr/>
          </p:nvSpPr>
          <p:spPr>
            <a:xfrm>
              <a:off x="6566760" y="4649040"/>
              <a:ext cx="26784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Stateless JWT Authorization (HS256):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5" name="TextBox 42"/>
            <p:cNvSpPr/>
            <p:nvPr/>
          </p:nvSpPr>
          <p:spPr>
            <a:xfrm>
              <a:off x="6566760" y="4839480"/>
              <a:ext cx="46846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Encodes user ID, role, and expiration; eliminates centralized session lookups.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6" name="TextBox 43"/>
            <p:cNvSpPr/>
            <p:nvPr/>
          </p:nvSpPr>
          <p:spPr>
            <a:xfrm>
              <a:off x="6566760" y="5125320"/>
              <a:ext cx="23691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Salted Password Security (bcrypt):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7" name="TextBox 44"/>
            <p:cNvSpPr/>
            <p:nvPr/>
          </p:nvSpPr>
          <p:spPr>
            <a:xfrm>
              <a:off x="6566760" y="5315760"/>
              <a:ext cx="46990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Adaptive work-factor hashing defends user credentials against rainbow tables.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8" name="TextBox 45"/>
            <p:cNvSpPr/>
            <p:nvPr/>
          </p:nvSpPr>
          <p:spPr>
            <a:xfrm>
              <a:off x="6567120" y="5657400"/>
              <a:ext cx="5230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dc2626"/>
                  </a:solidFill>
                  <a:effectLst/>
                  <a:uFillTx/>
                  <a:latin typeface="Times New Roman"/>
                  <a:ea typeface="Times New Roman"/>
                </a:rPr>
                <a:t>Academic Justification: Conforms to OWASP Top-10 API authentication standards.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89" name="footer"/>
          <p:cNvGrpSpPr/>
          <p:nvPr/>
        </p:nvGrpSpPr>
        <p:grpSpPr>
          <a:xfrm>
            <a:off x="757080" y="6238800"/>
            <a:ext cx="10677600" cy="342360"/>
            <a:chOff x="757080" y="6238800"/>
            <a:chExt cx="10677600" cy="342360"/>
          </a:xfrm>
        </p:grpSpPr>
        <p:sp>
          <p:nvSpPr>
            <p:cNvPr id="590" name="Line 47"/>
            <p:cNvSpPr/>
            <p:nvPr/>
          </p:nvSpPr>
          <p:spPr>
            <a:xfrm>
              <a:off x="762120" y="623880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" name="TextBox 48"/>
            <p:cNvSpPr/>
            <p:nvPr/>
          </p:nvSpPr>
          <p:spPr>
            <a:xfrm>
              <a:off x="757080" y="6390720"/>
              <a:ext cx="4138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Graduation Thesis Defense: Full-Stack Restaurant Management System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TextBox 49"/>
            <p:cNvSpPr/>
            <p:nvPr/>
          </p:nvSpPr>
          <p:spPr>
            <a:xfrm>
              <a:off x="10686240" y="6390720"/>
              <a:ext cx="748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Slide 12 / 20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header"/>
          <p:cNvGrpSpPr/>
          <p:nvPr/>
        </p:nvGrpSpPr>
        <p:grpSpPr>
          <a:xfrm>
            <a:off x="750600" y="542520"/>
            <a:ext cx="10679040" cy="644760"/>
            <a:chOff x="750600" y="542520"/>
            <a:chExt cx="10679040" cy="644760"/>
          </a:xfrm>
        </p:grpSpPr>
        <p:sp>
          <p:nvSpPr>
            <p:cNvPr id="594" name="TextBox 2"/>
            <p:cNvSpPr/>
            <p:nvPr/>
          </p:nvSpPr>
          <p:spPr>
            <a:xfrm>
              <a:off x="757080" y="542520"/>
              <a:ext cx="3739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pc="74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03. TECHNOLOGIES | DATABASE LAYER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5" name="TextBox 3"/>
            <p:cNvSpPr/>
            <p:nvPr/>
          </p:nvSpPr>
          <p:spPr>
            <a:xfrm>
              <a:off x="750600" y="747720"/>
              <a:ext cx="829260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2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PostgreSQL Relational Persistence &amp;amp; Schema Design</a:t>
              </a:r>
              <a:endParaRPr b="0" lang="en-US" sz="22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6" name="Line 4"/>
            <p:cNvSpPr/>
            <p:nvPr/>
          </p:nvSpPr>
          <p:spPr>
            <a:xfrm>
              <a:off x="762120" y="116208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7" name="pillars-container"/>
          <p:cNvGrpSpPr/>
          <p:nvPr/>
        </p:nvGrpSpPr>
        <p:grpSpPr>
          <a:xfrm>
            <a:off x="762120" y="1428840"/>
            <a:ext cx="10667520" cy="4524120"/>
            <a:chOff x="762120" y="1428840"/>
            <a:chExt cx="10667520" cy="4524120"/>
          </a:xfrm>
        </p:grpSpPr>
        <p:sp>
          <p:nvSpPr>
            <p:cNvPr id="598" name="Rectangle 6"/>
            <p:cNvSpPr/>
            <p:nvPr/>
          </p:nvSpPr>
          <p:spPr>
            <a:xfrm>
              <a:off x="762120" y="1428840"/>
              <a:ext cx="3333240" cy="452412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9" name="Rectangle 7"/>
            <p:cNvSpPr/>
            <p:nvPr/>
          </p:nvSpPr>
          <p:spPr>
            <a:xfrm>
              <a:off x="762120" y="1428840"/>
              <a:ext cx="3333240" cy="7596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0" name="Ellipse 8"/>
            <p:cNvSpPr/>
            <p:nvPr/>
          </p:nvSpPr>
          <p:spPr>
            <a:xfrm>
              <a:off x="1028880" y="1647720"/>
              <a:ext cx="418680" cy="418680"/>
            </a:xfrm>
            <a:prstGeom prst="ellipse">
              <a:avLst/>
            </a:prstGeom>
            <a:solidFill>
              <a:srgbClr val="e0f2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1" name="TextBox 9"/>
            <p:cNvSpPr/>
            <p:nvPr/>
          </p:nvSpPr>
          <p:spPr>
            <a:xfrm>
              <a:off x="1135440" y="1787760"/>
              <a:ext cx="2055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0284c7"/>
                  </a:solidFill>
                  <a:effectLst/>
                  <a:uFillTx/>
                  <a:latin typeface="Times New Roman"/>
                  <a:ea typeface="Times New Roman"/>
                </a:rPr>
                <a:t>17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TextBox 10"/>
            <p:cNvSpPr/>
            <p:nvPr/>
          </p:nvSpPr>
          <p:spPr>
            <a:xfrm>
              <a:off x="1611720" y="1762200"/>
              <a:ext cx="153576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Domain Entities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Line 11"/>
            <p:cNvSpPr/>
            <p:nvPr/>
          </p:nvSpPr>
          <p:spPr>
            <a:xfrm>
              <a:off x="1000080" y="2190600"/>
              <a:ext cx="2857320" cy="9000"/>
            </a:xfrm>
            <a:custGeom>
              <a:avLst/>
              <a:gdLst>
                <a:gd name="textAreaLeft" fmla="*/ 0 w 2857320"/>
                <a:gd name="textAreaRight" fmla="*/ 2857680 w 28573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4" name="TextBox 12"/>
            <p:cNvSpPr/>
            <p:nvPr/>
          </p:nvSpPr>
          <p:spPr>
            <a:xfrm>
              <a:off x="994680" y="2363040"/>
              <a:ext cx="16754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Core Identity &amp; Access: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5" name="TextBox 13"/>
            <p:cNvSpPr/>
            <p:nvPr/>
          </p:nvSpPr>
          <p:spPr>
            <a:xfrm>
              <a:off x="995040" y="2561760"/>
              <a:ext cx="1516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User, Role, StaffSchedule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6" name="TextBox 14"/>
            <p:cNvSpPr/>
            <p:nvPr/>
          </p:nvSpPr>
          <p:spPr>
            <a:xfrm>
              <a:off x="994680" y="2887200"/>
              <a:ext cx="19612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Menu &amp; Catalog Hierarchy: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7" name="TextBox 15"/>
            <p:cNvSpPr/>
            <p:nvPr/>
          </p:nvSpPr>
          <p:spPr>
            <a:xfrm>
              <a:off x="995040" y="3085560"/>
              <a:ext cx="2383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Category, MenuItem, ItemCustomization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" name="TextBox 16"/>
            <p:cNvSpPr/>
            <p:nvPr/>
          </p:nvSpPr>
          <p:spPr>
            <a:xfrm>
              <a:off x="994680" y="3411000"/>
              <a:ext cx="18216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Order &amp; Billing Lifecycle: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" name="TextBox 17"/>
            <p:cNvSpPr/>
            <p:nvPr/>
          </p:nvSpPr>
          <p:spPr>
            <a:xfrm>
              <a:off x="995040" y="3609360"/>
              <a:ext cx="21769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Order, OrderItem, Payment, Delivery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" name="TextBox 18"/>
            <p:cNvSpPr/>
            <p:nvPr/>
          </p:nvSpPr>
          <p:spPr>
            <a:xfrm>
              <a:off x="994680" y="3934800"/>
              <a:ext cx="20026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Floor &amp; Hospitality Services: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1" name="TextBox 19"/>
            <p:cNvSpPr/>
            <p:nvPr/>
          </p:nvSpPr>
          <p:spPr>
            <a:xfrm>
              <a:off x="995040" y="4133520"/>
              <a:ext cx="22114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RestaurantTable, Reservation, Review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2" name="TextBox 20"/>
            <p:cNvSpPr/>
            <p:nvPr/>
          </p:nvSpPr>
          <p:spPr>
            <a:xfrm>
              <a:off x="994680" y="4458600"/>
              <a:ext cx="18547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Marketing &amp; Engagement: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3" name="TextBox 21"/>
            <p:cNvSpPr/>
            <p:nvPr/>
          </p:nvSpPr>
          <p:spPr>
            <a:xfrm>
              <a:off x="995040" y="4657320"/>
              <a:ext cx="2212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DiscountCoupon, UserDiscountUsage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Rectangle 22"/>
            <p:cNvSpPr/>
            <p:nvPr/>
          </p:nvSpPr>
          <p:spPr>
            <a:xfrm>
              <a:off x="1000080" y="5238720"/>
              <a:ext cx="2857320" cy="475920"/>
            </a:xfrm>
            <a:prstGeom prst="roundRect">
              <a:avLst>
                <a:gd name="adj" fmla="val 12000"/>
              </a:avLst>
            </a:prstGeom>
            <a:solidFill>
              <a:srgbClr val="f0f9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TextBox 23"/>
            <p:cNvSpPr/>
            <p:nvPr/>
          </p:nvSpPr>
          <p:spPr>
            <a:xfrm>
              <a:off x="1679400" y="5343120"/>
              <a:ext cx="14986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0369a1"/>
                  </a:solidFill>
                  <a:effectLst/>
                  <a:uFillTx/>
                  <a:latin typeface="Times New Roman"/>
                  <a:ea typeface="Times New Roman"/>
                </a:rPr>
                <a:t>Full 3NF Normalization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6" name="TextBox 24"/>
            <p:cNvSpPr/>
            <p:nvPr/>
          </p:nvSpPr>
          <p:spPr>
            <a:xfrm>
              <a:off x="1278000" y="5522760"/>
              <a:ext cx="2301120" cy="1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900" strike="noStrike" u="none">
                  <a:solidFill>
                    <a:srgbClr val="075985"/>
                  </a:solidFill>
                  <a:effectLst/>
                  <a:uFillTx/>
                  <a:latin typeface="Times New Roman"/>
                  <a:ea typeface="Times New Roman"/>
                </a:rPr>
                <a:t>Eliminates data duplication &amp; anomaly risks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7" name="Rectangle 25"/>
            <p:cNvSpPr/>
            <p:nvPr/>
          </p:nvSpPr>
          <p:spPr>
            <a:xfrm>
              <a:off x="4429080" y="1428840"/>
              <a:ext cx="3333240" cy="452412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8" name="Rectangle 26"/>
            <p:cNvSpPr/>
            <p:nvPr/>
          </p:nvSpPr>
          <p:spPr>
            <a:xfrm>
              <a:off x="4429080" y="1428840"/>
              <a:ext cx="3333240" cy="7596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9" name="Ellipse 27"/>
            <p:cNvSpPr/>
            <p:nvPr/>
          </p:nvSpPr>
          <p:spPr>
            <a:xfrm>
              <a:off x="4695840" y="1647720"/>
              <a:ext cx="418680" cy="418680"/>
            </a:xfrm>
            <a:prstGeom prst="ellipse">
              <a:avLst/>
            </a:prstGeom>
            <a:solidFill>
              <a:srgbClr val="d1fa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0" name="TextBox 28"/>
            <p:cNvSpPr/>
            <p:nvPr/>
          </p:nvSpPr>
          <p:spPr>
            <a:xfrm>
              <a:off x="4797720" y="1787760"/>
              <a:ext cx="214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059669"/>
                  </a:solidFill>
                  <a:effectLst/>
                  <a:uFillTx/>
                  <a:latin typeface="Times New Roman"/>
                  <a:ea typeface="Times New Roman"/>
                </a:rPr>
                <a:t>🛡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1" name="TextBox 29"/>
            <p:cNvSpPr/>
            <p:nvPr/>
          </p:nvSpPr>
          <p:spPr>
            <a:xfrm>
              <a:off x="5278680" y="1762200"/>
              <a:ext cx="179496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ACID Guarantees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2" name="Line 30"/>
            <p:cNvSpPr/>
            <p:nvPr/>
          </p:nvSpPr>
          <p:spPr>
            <a:xfrm>
              <a:off x="4667400" y="2190600"/>
              <a:ext cx="2857320" cy="9000"/>
            </a:xfrm>
            <a:custGeom>
              <a:avLst/>
              <a:gdLst>
                <a:gd name="textAreaLeft" fmla="*/ 0 w 2857320"/>
                <a:gd name="textAreaRight" fmla="*/ 2857680 w 28573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TextBox 31"/>
            <p:cNvSpPr/>
            <p:nvPr/>
          </p:nvSpPr>
          <p:spPr>
            <a:xfrm>
              <a:off x="4662000" y="2363040"/>
              <a:ext cx="19069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Atomicity (All-or-Nothing):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4" name="TextBox 32"/>
            <p:cNvSpPr/>
            <p:nvPr/>
          </p:nvSpPr>
          <p:spPr>
            <a:xfrm>
              <a:off x="4662360" y="2561760"/>
              <a:ext cx="22579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Multi-item order checkouts commit as a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5" name="TextBox 33"/>
            <p:cNvSpPr/>
            <p:nvPr/>
          </p:nvSpPr>
          <p:spPr>
            <a:xfrm>
              <a:off x="4662360" y="2733120"/>
              <a:ext cx="2146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single atomic unit or rollback entirely.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6" name="TextBox 34"/>
            <p:cNvSpPr/>
            <p:nvPr/>
          </p:nvSpPr>
          <p:spPr>
            <a:xfrm>
              <a:off x="4662000" y="3077640"/>
              <a:ext cx="23925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Foreign Key Cascades &amp; Integrity: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7" name="TextBox 35"/>
            <p:cNvSpPr/>
            <p:nvPr/>
          </p:nvSpPr>
          <p:spPr>
            <a:xfrm>
              <a:off x="4662360" y="3276000"/>
              <a:ext cx="20228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Strict referential constraints prevent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8" name="TextBox 36"/>
            <p:cNvSpPr/>
            <p:nvPr/>
          </p:nvSpPr>
          <p:spPr>
            <a:xfrm>
              <a:off x="4662360" y="3447720"/>
              <a:ext cx="21776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dangling order items or missing tables.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9" name="TextBox 37"/>
            <p:cNvSpPr/>
            <p:nvPr/>
          </p:nvSpPr>
          <p:spPr>
            <a:xfrm>
              <a:off x="4662000" y="3791880"/>
              <a:ext cx="15469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Concurrency Control: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0" name="TextBox 38"/>
            <p:cNvSpPr/>
            <p:nvPr/>
          </p:nvSpPr>
          <p:spPr>
            <a:xfrm>
              <a:off x="4662360" y="3990600"/>
              <a:ext cx="22222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Row-level locking defends against race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1" name="TextBox 39"/>
            <p:cNvSpPr/>
            <p:nvPr/>
          </p:nvSpPr>
          <p:spPr>
            <a:xfrm>
              <a:off x="4662360" y="4161960"/>
              <a:ext cx="23403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conditions during simultaneous bookings.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2" name="TextBox 40"/>
            <p:cNvSpPr/>
            <p:nvPr/>
          </p:nvSpPr>
          <p:spPr>
            <a:xfrm>
              <a:off x="4662000" y="4506120"/>
              <a:ext cx="19407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Alembic Version Migration: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3" name="TextBox 41"/>
            <p:cNvSpPr/>
            <p:nvPr/>
          </p:nvSpPr>
          <p:spPr>
            <a:xfrm>
              <a:off x="4662360" y="4704840"/>
              <a:ext cx="22651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Programmatic schema migration history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4" name="TextBox 42"/>
            <p:cNvSpPr/>
            <p:nvPr/>
          </p:nvSpPr>
          <p:spPr>
            <a:xfrm>
              <a:off x="4662360" y="4876200"/>
              <a:ext cx="17974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tracks every database evolution.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5" name="Rectangle 43"/>
            <p:cNvSpPr/>
            <p:nvPr/>
          </p:nvSpPr>
          <p:spPr>
            <a:xfrm>
              <a:off x="4667400" y="5238720"/>
              <a:ext cx="2857320" cy="475920"/>
            </a:xfrm>
            <a:prstGeom prst="roundRect">
              <a:avLst>
                <a:gd name="adj" fmla="val 12000"/>
              </a:avLst>
            </a:prstGeom>
            <a:solidFill>
              <a:srgbClr val="ecfd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6" name="TextBox 44"/>
            <p:cNvSpPr/>
            <p:nvPr/>
          </p:nvSpPr>
          <p:spPr>
            <a:xfrm>
              <a:off x="5248800" y="5343120"/>
              <a:ext cx="16938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047857"/>
                  </a:solidFill>
                  <a:effectLst/>
                  <a:uFillTx/>
                  <a:latin typeface="Times New Roman"/>
                  <a:ea typeface="Times New Roman"/>
                </a:rPr>
                <a:t>Strict Relational Soundness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7" name="TextBox 45"/>
            <p:cNvSpPr/>
            <p:nvPr/>
          </p:nvSpPr>
          <p:spPr>
            <a:xfrm>
              <a:off x="5084640" y="5522760"/>
              <a:ext cx="2022120" cy="1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900" strike="noStrike" u="none">
                  <a:solidFill>
                    <a:srgbClr val="065f46"/>
                  </a:solidFill>
                  <a:effectLst/>
                  <a:uFillTx/>
                  <a:latin typeface="Times New Roman"/>
                  <a:ea typeface="Times New Roman"/>
                </a:rPr>
                <a:t>Guarantees consistent financial ledgers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" name="Rectangle 46"/>
            <p:cNvSpPr/>
            <p:nvPr/>
          </p:nvSpPr>
          <p:spPr>
            <a:xfrm>
              <a:off x="8096400" y="1428840"/>
              <a:ext cx="3333240" cy="452412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" name="Rectangle 47"/>
            <p:cNvSpPr/>
            <p:nvPr/>
          </p:nvSpPr>
          <p:spPr>
            <a:xfrm>
              <a:off x="8096400" y="1428840"/>
              <a:ext cx="3333240" cy="7596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" name="Ellipse 48"/>
            <p:cNvSpPr/>
            <p:nvPr/>
          </p:nvSpPr>
          <p:spPr>
            <a:xfrm>
              <a:off x="8362800" y="1647720"/>
              <a:ext cx="418680" cy="418680"/>
            </a:xfrm>
            <a:prstGeom prst="ellipse">
              <a:avLst/>
            </a:prstGeom>
            <a:solidFill>
              <a:srgbClr val="fef3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" name="TextBox 49"/>
            <p:cNvSpPr/>
            <p:nvPr/>
          </p:nvSpPr>
          <p:spPr>
            <a:xfrm>
              <a:off x="8464680" y="1787760"/>
              <a:ext cx="214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⚡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2" name="TextBox 50"/>
            <p:cNvSpPr/>
            <p:nvPr/>
          </p:nvSpPr>
          <p:spPr>
            <a:xfrm>
              <a:off x="8946000" y="1762200"/>
              <a:ext cx="190440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Query Optimization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Line 51"/>
            <p:cNvSpPr/>
            <p:nvPr/>
          </p:nvSpPr>
          <p:spPr>
            <a:xfrm>
              <a:off x="8334360" y="2190600"/>
              <a:ext cx="2857320" cy="9000"/>
            </a:xfrm>
            <a:custGeom>
              <a:avLst/>
              <a:gdLst>
                <a:gd name="textAreaLeft" fmla="*/ 0 w 2857320"/>
                <a:gd name="textAreaRight" fmla="*/ 2857680 w 28573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TextBox 52"/>
            <p:cNvSpPr/>
            <p:nvPr/>
          </p:nvSpPr>
          <p:spPr>
            <a:xfrm>
              <a:off x="8328960" y="2363040"/>
              <a:ext cx="20901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Targeted Composite Indexing: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5" name="TextBox 53"/>
            <p:cNvSpPr/>
            <p:nvPr/>
          </p:nvSpPr>
          <p:spPr>
            <a:xfrm>
              <a:off x="8329320" y="2561760"/>
              <a:ext cx="22932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Indexes on (order_id, status) and foreign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6" name="TextBox 54"/>
            <p:cNvSpPr/>
            <p:nvPr/>
          </p:nvSpPr>
          <p:spPr>
            <a:xfrm>
              <a:off x="8329320" y="2733120"/>
              <a:ext cx="22122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keys guarantee sub-10ms lookup times.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7" name="TextBox 55"/>
            <p:cNvSpPr/>
            <p:nvPr/>
          </p:nvSpPr>
          <p:spPr>
            <a:xfrm>
              <a:off x="8328960" y="3077640"/>
              <a:ext cx="17434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Connection Pool Tuning: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8" name="TextBox 56"/>
            <p:cNvSpPr/>
            <p:nvPr/>
          </p:nvSpPr>
          <p:spPr>
            <a:xfrm>
              <a:off x="8329320" y="3276000"/>
              <a:ext cx="23472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Psycopg2 connection pool manages reuse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9" name="TextBox 57"/>
            <p:cNvSpPr/>
            <p:nvPr/>
          </p:nvSpPr>
          <p:spPr>
            <a:xfrm>
              <a:off x="8329320" y="3447720"/>
              <a:ext cx="18248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under bursty diner traffic spikes.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0" name="TextBox 58"/>
            <p:cNvSpPr/>
            <p:nvPr/>
          </p:nvSpPr>
          <p:spPr>
            <a:xfrm>
              <a:off x="8328960" y="3791880"/>
              <a:ext cx="18280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Aggregation Performance: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1" name="TextBox 59"/>
            <p:cNvSpPr/>
            <p:nvPr/>
          </p:nvSpPr>
          <p:spPr>
            <a:xfrm>
              <a:off x="8329320" y="3990600"/>
              <a:ext cx="22928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Optimized SQL queries power manager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2" name="TextBox 60"/>
            <p:cNvSpPr/>
            <p:nvPr/>
          </p:nvSpPr>
          <p:spPr>
            <a:xfrm>
              <a:off x="8329320" y="4161960"/>
              <a:ext cx="2359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analytics without heavy in-memory loops.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TextBox 61"/>
            <p:cNvSpPr/>
            <p:nvPr/>
          </p:nvSpPr>
          <p:spPr>
            <a:xfrm>
              <a:off x="8328960" y="4506120"/>
              <a:ext cx="19396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Hybrid JSONB Attributes: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4" name="TextBox 62"/>
            <p:cNvSpPr/>
            <p:nvPr/>
          </p:nvSpPr>
          <p:spPr>
            <a:xfrm>
              <a:off x="8329320" y="4704840"/>
              <a:ext cx="19512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Custom dietary tags stored cleanly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5" name="TextBox 63"/>
            <p:cNvSpPr/>
            <p:nvPr/>
          </p:nvSpPr>
          <p:spPr>
            <a:xfrm>
              <a:off x="8329320" y="4876200"/>
              <a:ext cx="13294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without schema sprawl.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6" name="Rectangle 64"/>
            <p:cNvSpPr/>
            <p:nvPr/>
          </p:nvSpPr>
          <p:spPr>
            <a:xfrm>
              <a:off x="8334360" y="5238720"/>
              <a:ext cx="2857320" cy="475920"/>
            </a:xfrm>
            <a:prstGeom prst="roundRect">
              <a:avLst>
                <a:gd name="adj" fmla="val 12000"/>
              </a:avLst>
            </a:prstGeom>
            <a:solidFill>
              <a:srgbClr val="fffb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7" name="TextBox 65"/>
            <p:cNvSpPr/>
            <p:nvPr/>
          </p:nvSpPr>
          <p:spPr>
            <a:xfrm>
              <a:off x="8837640" y="5343120"/>
              <a:ext cx="18507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b45309"/>
                  </a:solidFill>
                  <a:effectLst/>
                  <a:uFillTx/>
                  <a:latin typeface="Times New Roman"/>
                  <a:ea typeface="Times New Roman"/>
                </a:rPr>
                <a:t>Scalable Production Querying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8" name="TextBox 66"/>
            <p:cNvSpPr/>
            <p:nvPr/>
          </p:nvSpPr>
          <p:spPr>
            <a:xfrm>
              <a:off x="8704800" y="5522760"/>
              <a:ext cx="2116080" cy="17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900" strike="noStrike" u="none">
                  <a:solidFill>
                    <a:srgbClr val="92400e"/>
                  </a:solidFill>
                  <a:effectLst/>
                  <a:uFillTx/>
                  <a:latin typeface="Times New Roman"/>
                  <a:ea typeface="Times New Roman"/>
                </a:rPr>
                <a:t>Sub-second reporting across 100k+ rows</a:t>
              </a:r>
              <a:endPara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9" name="footer"/>
          <p:cNvGrpSpPr/>
          <p:nvPr/>
        </p:nvGrpSpPr>
        <p:grpSpPr>
          <a:xfrm>
            <a:off x="757080" y="6238800"/>
            <a:ext cx="10677600" cy="342360"/>
            <a:chOff x="757080" y="6238800"/>
            <a:chExt cx="10677600" cy="342360"/>
          </a:xfrm>
        </p:grpSpPr>
        <p:sp>
          <p:nvSpPr>
            <p:cNvPr id="660" name="Line 68"/>
            <p:cNvSpPr/>
            <p:nvPr/>
          </p:nvSpPr>
          <p:spPr>
            <a:xfrm>
              <a:off x="762120" y="623880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1" name="TextBox 69"/>
            <p:cNvSpPr/>
            <p:nvPr/>
          </p:nvSpPr>
          <p:spPr>
            <a:xfrm>
              <a:off x="757080" y="6390720"/>
              <a:ext cx="4138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Graduation Thesis Defense: Full-Stack Restaurant Management System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2" name="TextBox 70"/>
            <p:cNvSpPr/>
            <p:nvPr/>
          </p:nvSpPr>
          <p:spPr>
            <a:xfrm>
              <a:off x="10686240" y="6390720"/>
              <a:ext cx="748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Slide 13 / 20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3" name="decorations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664" name="Line 2"/>
            <p:cNvSpPr/>
            <p:nvPr/>
          </p:nvSpPr>
          <p:spPr>
            <a:xfrm>
              <a:off x="762120" y="0"/>
              <a:ext cx="9000" cy="6857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5" name="Line 3"/>
            <p:cNvSpPr/>
            <p:nvPr/>
          </p:nvSpPr>
          <p:spPr>
            <a:xfrm>
              <a:off x="11430000" y="0"/>
              <a:ext cx="9000" cy="6857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6" name="Line 4"/>
            <p:cNvSpPr/>
            <p:nvPr/>
          </p:nvSpPr>
          <p:spPr>
            <a:xfrm>
              <a:off x="0" y="6095880"/>
              <a:ext cx="12191760" cy="900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7" name="accent-graphics"/>
          <p:cNvGrpSpPr/>
          <p:nvPr/>
        </p:nvGrpSpPr>
        <p:grpSpPr>
          <a:xfrm>
            <a:off x="762120" y="380880"/>
            <a:ext cx="11238840" cy="3619440"/>
            <a:chOff x="762120" y="380880"/>
            <a:chExt cx="11238840" cy="3619440"/>
          </a:xfrm>
        </p:grpSpPr>
        <p:sp>
          <p:nvSpPr>
            <p:cNvPr id="668" name="Rectangle 6"/>
            <p:cNvSpPr/>
            <p:nvPr/>
          </p:nvSpPr>
          <p:spPr>
            <a:xfrm>
              <a:off x="762120" y="2286000"/>
              <a:ext cx="75960" cy="17143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9" name="Ellipse 7"/>
            <p:cNvSpPr/>
            <p:nvPr/>
          </p:nvSpPr>
          <p:spPr>
            <a:xfrm>
              <a:off x="9334440" y="380880"/>
              <a:ext cx="2666520" cy="2666520"/>
            </a:xfrm>
            <a:prstGeom prst="ellipse">
              <a:avLst/>
            </a:prstGeom>
            <a:solidFill>
              <a:srgbClr val="1e293b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0" name="Ellipse 8"/>
            <p:cNvSpPr/>
            <p:nvPr/>
          </p:nvSpPr>
          <p:spPr>
            <a:xfrm>
              <a:off x="9810720" y="857160"/>
              <a:ext cx="1714320" cy="1714320"/>
            </a:xfrm>
            <a:prstGeom prst="ellipse">
              <a:avLst/>
            </a:prstGeom>
            <a:solidFill>
              <a:srgbClr val="0f172a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71" name="section-badge"/>
          <p:cNvGrpSpPr/>
          <p:nvPr/>
        </p:nvGrpSpPr>
        <p:grpSpPr>
          <a:xfrm>
            <a:off x="1143000" y="2095560"/>
            <a:ext cx="1428480" cy="323640"/>
            <a:chOff x="1143000" y="2095560"/>
            <a:chExt cx="1428480" cy="323640"/>
          </a:xfrm>
        </p:grpSpPr>
        <p:sp>
          <p:nvSpPr>
            <p:cNvPr id="672" name="Rectangle 10"/>
            <p:cNvSpPr/>
            <p:nvPr/>
          </p:nvSpPr>
          <p:spPr>
            <a:xfrm>
              <a:off x="1143000" y="2095560"/>
              <a:ext cx="1428480" cy="32364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 w="14288">
              <a:solidFill>
                <a:srgbClr val="d9770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TextBox 11"/>
            <p:cNvSpPr/>
            <p:nvPr/>
          </p:nvSpPr>
          <p:spPr>
            <a:xfrm>
              <a:off x="1272240" y="2191680"/>
              <a:ext cx="11700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050" spc="74" strike="noStrike" u="none">
                  <a:solidFill>
                    <a:srgbClr val="fbbf24"/>
                  </a:solidFill>
                  <a:effectLst/>
                  <a:uFillTx/>
                  <a:latin typeface="Times New Roman"/>
                  <a:ea typeface="Times New Roman"/>
                </a:rPr>
                <a:t>SECTION 04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74" name="section-content"/>
          <p:cNvGrpSpPr/>
          <p:nvPr/>
        </p:nvGrpSpPr>
        <p:grpSpPr>
          <a:xfrm>
            <a:off x="1126080" y="2691720"/>
            <a:ext cx="7898040" cy="1011240"/>
            <a:chOff x="1126080" y="2691720"/>
            <a:chExt cx="7898040" cy="1011240"/>
          </a:xfrm>
        </p:grpSpPr>
        <p:sp>
          <p:nvSpPr>
            <p:cNvPr id="675" name="TextBox 13"/>
            <p:cNvSpPr/>
            <p:nvPr/>
          </p:nvSpPr>
          <p:spPr>
            <a:xfrm>
              <a:off x="1126080" y="2691720"/>
              <a:ext cx="613872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33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Core Functions &amp; Workflows</a:t>
              </a:r>
              <a:endPara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6" name="TextBox 14"/>
            <p:cNvSpPr/>
            <p:nvPr/>
          </p:nvSpPr>
          <p:spPr>
            <a:xfrm>
              <a:off x="1135440" y="3409920"/>
              <a:ext cx="788868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50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Customer Ordering Journey, Kitchen Display System (KDS), and Managerial Backoffice</a:t>
              </a:r>
              <a:endPara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77" name="footer"/>
          <p:cNvGrpSpPr/>
          <p:nvPr/>
        </p:nvGrpSpPr>
        <p:grpSpPr>
          <a:xfrm>
            <a:off x="1137600" y="6220800"/>
            <a:ext cx="9916560" cy="204840"/>
            <a:chOff x="1137600" y="6220800"/>
            <a:chExt cx="9916560" cy="204840"/>
          </a:xfrm>
        </p:grpSpPr>
        <p:sp>
          <p:nvSpPr>
            <p:cNvPr id="678" name="TextBox 16"/>
            <p:cNvSpPr/>
            <p:nvPr/>
          </p:nvSpPr>
          <p:spPr>
            <a:xfrm>
              <a:off x="1137600" y="6220800"/>
              <a:ext cx="40154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Restaurant Management System | Graduation Thesis Presentation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9" name="TextBox 17"/>
            <p:cNvSpPr/>
            <p:nvPr/>
          </p:nvSpPr>
          <p:spPr>
            <a:xfrm>
              <a:off x="10252080" y="6220800"/>
              <a:ext cx="8020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Slide 14 / 20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0" name="header"/>
          <p:cNvGrpSpPr/>
          <p:nvPr/>
        </p:nvGrpSpPr>
        <p:grpSpPr>
          <a:xfrm>
            <a:off x="750600" y="542520"/>
            <a:ext cx="10679040" cy="644760"/>
            <a:chOff x="750600" y="542520"/>
            <a:chExt cx="10679040" cy="644760"/>
          </a:xfrm>
        </p:grpSpPr>
        <p:sp>
          <p:nvSpPr>
            <p:cNvPr id="681" name="TextBox 2"/>
            <p:cNvSpPr/>
            <p:nvPr/>
          </p:nvSpPr>
          <p:spPr>
            <a:xfrm>
              <a:off x="757080" y="542520"/>
              <a:ext cx="45489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pc="74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04. CORE FUNCTIONS | CUSTOMER EXPERIENCE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2" name="TextBox 3"/>
            <p:cNvSpPr/>
            <p:nvPr/>
          </p:nvSpPr>
          <p:spPr>
            <a:xfrm>
              <a:off x="750600" y="747720"/>
              <a:ext cx="829548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2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Customer Ordering Journey &amp;amp; QR Table Interaction</a:t>
              </a:r>
              <a:endParaRPr b="0" lang="en-US" sz="22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3" name="Line 4"/>
            <p:cNvSpPr/>
            <p:nvPr/>
          </p:nvSpPr>
          <p:spPr>
            <a:xfrm>
              <a:off x="762120" y="116208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4" name="customer-features"/>
          <p:cNvGrpSpPr/>
          <p:nvPr/>
        </p:nvGrpSpPr>
        <p:grpSpPr>
          <a:xfrm>
            <a:off x="762120" y="1428840"/>
            <a:ext cx="10769400" cy="4571640"/>
            <a:chOff x="762120" y="1428840"/>
            <a:chExt cx="10769400" cy="4571640"/>
          </a:xfrm>
        </p:grpSpPr>
        <p:sp>
          <p:nvSpPr>
            <p:cNvPr id="685" name="Rectangle 6"/>
            <p:cNvSpPr/>
            <p:nvPr/>
          </p:nvSpPr>
          <p:spPr>
            <a:xfrm>
              <a:off x="762120" y="1428840"/>
              <a:ext cx="5143320" cy="214272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6" name="Rectangle 7"/>
            <p:cNvSpPr/>
            <p:nvPr/>
          </p:nvSpPr>
          <p:spPr>
            <a:xfrm>
              <a:off x="762120" y="1428840"/>
              <a:ext cx="75960" cy="214272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7" name="TextBox 8"/>
            <p:cNvSpPr/>
            <p:nvPr/>
          </p:nvSpPr>
          <p:spPr>
            <a:xfrm>
              <a:off x="1040040" y="1647720"/>
              <a:ext cx="309672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284c7"/>
                  </a:solidFill>
                  <a:effectLst/>
                  <a:uFillTx/>
                  <a:latin typeface="Times New Roman"/>
                  <a:ea typeface="Times New Roman"/>
                </a:rPr>
                <a:t>Digital Menu &amp; Instant Filtering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8" name="TextBox 9"/>
            <p:cNvSpPr/>
            <p:nvPr/>
          </p:nvSpPr>
          <p:spPr>
            <a:xfrm>
              <a:off x="1042560" y="1934640"/>
              <a:ext cx="24613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Intuitive Category Navigation &amp; Search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9" name="Line 10"/>
            <p:cNvSpPr/>
            <p:nvPr/>
          </p:nvSpPr>
          <p:spPr>
            <a:xfrm>
              <a:off x="1047600" y="2171880"/>
              <a:ext cx="4571640" cy="900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0" name="TextBox 11"/>
            <p:cNvSpPr/>
            <p:nvPr/>
          </p:nvSpPr>
          <p:spPr>
            <a:xfrm>
              <a:off x="1042560" y="2315520"/>
              <a:ext cx="24069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Category Tabs &amp; Dynamic Search: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TextBox 12"/>
            <p:cNvSpPr/>
            <p:nvPr/>
          </p:nvSpPr>
          <p:spPr>
            <a:xfrm>
              <a:off x="1042560" y="2505960"/>
              <a:ext cx="44586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Instant client-side debounce search across dishes, prices, and descriptions.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2" name="TextBox 13"/>
            <p:cNvSpPr/>
            <p:nvPr/>
          </p:nvSpPr>
          <p:spPr>
            <a:xfrm>
              <a:off x="1042560" y="2791800"/>
              <a:ext cx="22269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Visual Dietary &amp; Allergen Tags: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3" name="TextBox 14"/>
            <p:cNvSpPr/>
            <p:nvPr/>
          </p:nvSpPr>
          <p:spPr>
            <a:xfrm>
              <a:off x="1042560" y="2982240"/>
              <a:ext cx="43473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Badges highlight vegetarian, spicy, and popular dishes with live pricing.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4" name="TextBox 15"/>
            <p:cNvSpPr/>
            <p:nvPr/>
          </p:nvSpPr>
          <p:spPr>
            <a:xfrm>
              <a:off x="1042920" y="3276000"/>
              <a:ext cx="35643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0284c7"/>
                  </a:solidFill>
                  <a:effectLst/>
                  <a:uFillTx/>
                  <a:latin typeface="Times New Roman"/>
                  <a:ea typeface="Times New Roman"/>
                </a:rPr>
                <a:t>✓ Benefit: Reduces waiter order-taking time by over 70%.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5" name="Rectangle 16"/>
            <p:cNvSpPr/>
            <p:nvPr/>
          </p:nvSpPr>
          <p:spPr>
            <a:xfrm>
              <a:off x="6286680" y="1428840"/>
              <a:ext cx="5143320" cy="214272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6" name="Rectangle 17"/>
            <p:cNvSpPr/>
            <p:nvPr/>
          </p:nvSpPr>
          <p:spPr>
            <a:xfrm>
              <a:off x="6286680" y="1428840"/>
              <a:ext cx="75960" cy="214272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7" name="TextBox 18"/>
            <p:cNvSpPr/>
            <p:nvPr/>
          </p:nvSpPr>
          <p:spPr>
            <a:xfrm>
              <a:off x="6564600" y="1647720"/>
              <a:ext cx="302040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59669"/>
                  </a:solidFill>
                  <a:effectLst/>
                  <a:uFillTx/>
                  <a:latin typeface="Times New Roman"/>
                  <a:ea typeface="Times New Roman"/>
                </a:rPr>
                <a:t>Contactless Table QR Scanning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8" name="TextBox 19"/>
            <p:cNvSpPr/>
            <p:nvPr/>
          </p:nvSpPr>
          <p:spPr>
            <a:xfrm>
              <a:off x="6566760" y="1934640"/>
              <a:ext cx="22654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Seamless Dine-In Table Association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9" name="Line 20"/>
            <p:cNvSpPr/>
            <p:nvPr/>
          </p:nvSpPr>
          <p:spPr>
            <a:xfrm>
              <a:off x="6572160" y="2171880"/>
              <a:ext cx="4571640" cy="900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0" name="TextBox 21"/>
            <p:cNvSpPr/>
            <p:nvPr/>
          </p:nvSpPr>
          <p:spPr>
            <a:xfrm>
              <a:off x="6566760" y="2315520"/>
              <a:ext cx="29811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Unique QR Code URL per Physical Table: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1" name="TextBox 22"/>
            <p:cNvSpPr/>
            <p:nvPr/>
          </p:nvSpPr>
          <p:spPr>
            <a:xfrm>
              <a:off x="6566760" y="2505960"/>
              <a:ext cx="49647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Scanning `/menu?table=5` binds all ordered items directly to Table #5 in backend.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2" name="TextBox 23"/>
            <p:cNvSpPr/>
            <p:nvPr/>
          </p:nvSpPr>
          <p:spPr>
            <a:xfrm>
              <a:off x="6566760" y="2791800"/>
              <a:ext cx="22266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Zero App Installation Required: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3" name="TextBox 24"/>
            <p:cNvSpPr/>
            <p:nvPr/>
          </p:nvSpPr>
          <p:spPr>
            <a:xfrm>
              <a:off x="6566760" y="2982240"/>
              <a:ext cx="42231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Runs entirely within standard mobile web browsers (Safari, Chrome).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4" name="TextBox 25"/>
            <p:cNvSpPr/>
            <p:nvPr/>
          </p:nvSpPr>
          <p:spPr>
            <a:xfrm>
              <a:off x="6567120" y="3276000"/>
              <a:ext cx="44964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059669"/>
                  </a:solidFill>
                  <a:effectLst/>
                  <a:uFillTx/>
                  <a:latin typeface="Times New Roman"/>
                  <a:ea typeface="Times New Roman"/>
                </a:rPr>
                <a:t>✓ Benefit: Frictionless on-premise ordering with zero hardware overhead.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5" name="Rectangle 26"/>
            <p:cNvSpPr/>
            <p:nvPr/>
          </p:nvSpPr>
          <p:spPr>
            <a:xfrm>
              <a:off x="762120" y="3762360"/>
              <a:ext cx="5143320" cy="223812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6" name="Rectangle 27"/>
            <p:cNvSpPr/>
            <p:nvPr/>
          </p:nvSpPr>
          <p:spPr>
            <a:xfrm>
              <a:off x="762120" y="3762360"/>
              <a:ext cx="75960" cy="22381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7" name="TextBox 28"/>
            <p:cNvSpPr/>
            <p:nvPr/>
          </p:nvSpPr>
          <p:spPr>
            <a:xfrm>
              <a:off x="1040040" y="3981600"/>
              <a:ext cx="300852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Persisted Cart &amp; Customization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8" name="TextBox 29"/>
            <p:cNvSpPr/>
            <p:nvPr/>
          </p:nvSpPr>
          <p:spPr>
            <a:xfrm>
              <a:off x="1042560" y="4268160"/>
              <a:ext cx="27054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Local State Storage &amp; Cooking Instructions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9" name="Line 30"/>
            <p:cNvSpPr/>
            <p:nvPr/>
          </p:nvSpPr>
          <p:spPr>
            <a:xfrm>
              <a:off x="1047600" y="4505400"/>
              <a:ext cx="4571640" cy="900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0" name="TextBox 31"/>
            <p:cNvSpPr/>
            <p:nvPr/>
          </p:nvSpPr>
          <p:spPr>
            <a:xfrm>
              <a:off x="1042560" y="4649040"/>
              <a:ext cx="24753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Session Resilient Cart Management: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1" name="TextBox 32"/>
            <p:cNvSpPr/>
            <p:nvPr/>
          </p:nvSpPr>
          <p:spPr>
            <a:xfrm>
              <a:off x="1042560" y="4839480"/>
              <a:ext cx="43146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Cart items and quantities persist across page reloads via React Context.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2" name="TextBox 33"/>
            <p:cNvSpPr/>
            <p:nvPr/>
          </p:nvSpPr>
          <p:spPr>
            <a:xfrm>
              <a:off x="1042560" y="5125320"/>
              <a:ext cx="17550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Per-Item Cooking Notes: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3" name="TextBox 34"/>
            <p:cNvSpPr/>
            <p:nvPr/>
          </p:nvSpPr>
          <p:spPr>
            <a:xfrm>
              <a:off x="1042560" y="5315760"/>
              <a:ext cx="43862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Customers specify "less sugar" or "no peanuts", passed directly to KDS.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4" name="TextBox 35"/>
            <p:cNvSpPr/>
            <p:nvPr/>
          </p:nvSpPr>
          <p:spPr>
            <a:xfrm>
              <a:off x="1042920" y="5657400"/>
              <a:ext cx="41605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✓ Benefit: Eliminates verbal mistakes and order miscommunication.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5" name="Rectangle 36"/>
            <p:cNvSpPr/>
            <p:nvPr/>
          </p:nvSpPr>
          <p:spPr>
            <a:xfrm>
              <a:off x="6286680" y="3762360"/>
              <a:ext cx="5143320" cy="223812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6" name="Rectangle 37"/>
            <p:cNvSpPr/>
            <p:nvPr/>
          </p:nvSpPr>
          <p:spPr>
            <a:xfrm>
              <a:off x="6286680" y="3762360"/>
              <a:ext cx="75960" cy="223812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7" name="TextBox 38"/>
            <p:cNvSpPr/>
            <p:nvPr/>
          </p:nvSpPr>
          <p:spPr>
            <a:xfrm>
              <a:off x="6564600" y="3981600"/>
              <a:ext cx="289152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7c3aed"/>
                  </a:solidFill>
                  <a:effectLst/>
                  <a:uFillTx/>
                  <a:latin typeface="Times New Roman"/>
                  <a:ea typeface="Times New Roman"/>
                </a:rPr>
                <a:t>Live Tracking &amp; Star Reviews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8" name="TextBox 39"/>
            <p:cNvSpPr/>
            <p:nvPr/>
          </p:nvSpPr>
          <p:spPr>
            <a:xfrm>
              <a:off x="6566760" y="4268160"/>
              <a:ext cx="30376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Transparent Order Lifecycle &amp; Quality Feedback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9" name="Line 40"/>
            <p:cNvSpPr/>
            <p:nvPr/>
          </p:nvSpPr>
          <p:spPr>
            <a:xfrm>
              <a:off x="6572160" y="4505400"/>
              <a:ext cx="4571640" cy="900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0" name="TextBox 41"/>
            <p:cNvSpPr/>
            <p:nvPr/>
          </p:nvSpPr>
          <p:spPr>
            <a:xfrm>
              <a:off x="6566760" y="4649040"/>
              <a:ext cx="23634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Visual Step-by-Step Progress Bar: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1" name="TextBox 42"/>
            <p:cNvSpPr/>
            <p:nvPr/>
          </p:nvSpPr>
          <p:spPr>
            <a:xfrm>
              <a:off x="6566760" y="4839480"/>
              <a:ext cx="46364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Real-time status updates: Order Placed → Cooking → Ready → Delivered.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2" name="TextBox 43"/>
            <p:cNvSpPr/>
            <p:nvPr/>
          </p:nvSpPr>
          <p:spPr>
            <a:xfrm>
              <a:off x="6566760" y="5125320"/>
              <a:ext cx="21981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Post-Fulfillment Review Modal: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3" name="TextBox 44"/>
            <p:cNvSpPr/>
            <p:nvPr/>
          </p:nvSpPr>
          <p:spPr>
            <a:xfrm>
              <a:off x="6566760" y="5315760"/>
              <a:ext cx="44852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1 to 5 star ratings with written commentary feeding back into menu scores.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4" name="TextBox 45"/>
            <p:cNvSpPr/>
            <p:nvPr/>
          </p:nvSpPr>
          <p:spPr>
            <a:xfrm>
              <a:off x="6567120" y="5657400"/>
              <a:ext cx="45046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7c3aed"/>
                  </a:solidFill>
                  <a:effectLst/>
                  <a:uFillTx/>
                  <a:latin typeface="Times New Roman"/>
                  <a:ea typeface="Times New Roman"/>
                </a:rPr>
                <a:t>✓ Benefit: Complete customer transparency and actionable dish feedback.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25" name="footer"/>
          <p:cNvGrpSpPr/>
          <p:nvPr/>
        </p:nvGrpSpPr>
        <p:grpSpPr>
          <a:xfrm>
            <a:off x="757080" y="6238800"/>
            <a:ext cx="10677600" cy="342360"/>
            <a:chOff x="757080" y="6238800"/>
            <a:chExt cx="10677600" cy="342360"/>
          </a:xfrm>
        </p:grpSpPr>
        <p:sp>
          <p:nvSpPr>
            <p:cNvPr id="726" name="Line 47"/>
            <p:cNvSpPr/>
            <p:nvPr/>
          </p:nvSpPr>
          <p:spPr>
            <a:xfrm>
              <a:off x="762120" y="623880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TextBox 48"/>
            <p:cNvSpPr/>
            <p:nvPr/>
          </p:nvSpPr>
          <p:spPr>
            <a:xfrm>
              <a:off x="757080" y="6390720"/>
              <a:ext cx="4138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Graduation Thesis Defense: Full-Stack Restaurant Management System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8" name="TextBox 49"/>
            <p:cNvSpPr/>
            <p:nvPr/>
          </p:nvSpPr>
          <p:spPr>
            <a:xfrm>
              <a:off x="10686240" y="6390720"/>
              <a:ext cx="748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Slide 15 / 20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9" name="header"/>
          <p:cNvGrpSpPr/>
          <p:nvPr/>
        </p:nvGrpSpPr>
        <p:grpSpPr>
          <a:xfrm>
            <a:off x="750600" y="542520"/>
            <a:ext cx="10679040" cy="644760"/>
            <a:chOff x="750600" y="542520"/>
            <a:chExt cx="10679040" cy="644760"/>
          </a:xfrm>
        </p:grpSpPr>
        <p:sp>
          <p:nvSpPr>
            <p:cNvPr id="730" name="TextBox 2"/>
            <p:cNvSpPr/>
            <p:nvPr/>
          </p:nvSpPr>
          <p:spPr>
            <a:xfrm>
              <a:off x="757080" y="542520"/>
              <a:ext cx="5437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pc="74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04. CORE FUNCTIONS | OPERATIONS &amp;AMP; BACKOFFICE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1" name="TextBox 3"/>
            <p:cNvSpPr/>
            <p:nvPr/>
          </p:nvSpPr>
          <p:spPr>
            <a:xfrm>
              <a:off x="750600" y="747720"/>
              <a:ext cx="818964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2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Kitchen Display System (KDS) &amp;amp; Management Hub</a:t>
              </a:r>
              <a:endParaRPr b="0" lang="en-US" sz="22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2" name="Line 4"/>
            <p:cNvSpPr/>
            <p:nvPr/>
          </p:nvSpPr>
          <p:spPr>
            <a:xfrm>
              <a:off x="762120" y="116208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33" name="backoffice-grid"/>
          <p:cNvGrpSpPr/>
          <p:nvPr/>
        </p:nvGrpSpPr>
        <p:grpSpPr>
          <a:xfrm>
            <a:off x="762120" y="1428840"/>
            <a:ext cx="10667880" cy="4571640"/>
            <a:chOff x="762120" y="1428840"/>
            <a:chExt cx="10667880" cy="4571640"/>
          </a:xfrm>
        </p:grpSpPr>
        <p:sp>
          <p:nvSpPr>
            <p:cNvPr id="734" name="Rectangle 6"/>
            <p:cNvSpPr/>
            <p:nvPr/>
          </p:nvSpPr>
          <p:spPr>
            <a:xfrm>
              <a:off x="762120" y="1428840"/>
              <a:ext cx="5143320" cy="214272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5" name="Rectangle 7"/>
            <p:cNvSpPr/>
            <p:nvPr/>
          </p:nvSpPr>
          <p:spPr>
            <a:xfrm>
              <a:off x="762120" y="1428840"/>
              <a:ext cx="75960" cy="21427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6" name="TextBox 8"/>
            <p:cNvSpPr/>
            <p:nvPr/>
          </p:nvSpPr>
          <p:spPr>
            <a:xfrm>
              <a:off x="1040040" y="1647720"/>
              <a:ext cx="297504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Kitchen Display System (KDS)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7" name="TextBox 9"/>
            <p:cNvSpPr/>
            <p:nvPr/>
          </p:nvSpPr>
          <p:spPr>
            <a:xfrm>
              <a:off x="1042560" y="1934640"/>
              <a:ext cx="30366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Live Digital Ticket Kanban for Culinary Stations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8" name="Line 10"/>
            <p:cNvSpPr/>
            <p:nvPr/>
          </p:nvSpPr>
          <p:spPr>
            <a:xfrm>
              <a:off x="1047600" y="2171880"/>
              <a:ext cx="4571640" cy="900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9" name="TextBox 11"/>
            <p:cNvSpPr/>
            <p:nvPr/>
          </p:nvSpPr>
          <p:spPr>
            <a:xfrm>
              <a:off x="1042560" y="2315520"/>
              <a:ext cx="29527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Prioritized Ticket Queue &amp; Elapsed Timer: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0" name="TextBox 12"/>
            <p:cNvSpPr/>
            <p:nvPr/>
          </p:nvSpPr>
          <p:spPr>
            <a:xfrm>
              <a:off x="1042560" y="2505960"/>
              <a:ext cx="46785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Color-coded wait times flag delayed tickets before customer complaints arise.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1" name="TextBox 13"/>
            <p:cNvSpPr/>
            <p:nvPr/>
          </p:nvSpPr>
          <p:spPr>
            <a:xfrm>
              <a:off x="1042560" y="2791800"/>
              <a:ext cx="20840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One-Touch State Progression: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2" name="TextBox 14"/>
            <p:cNvSpPr/>
            <p:nvPr/>
          </p:nvSpPr>
          <p:spPr>
            <a:xfrm>
              <a:off x="1042560" y="2982240"/>
              <a:ext cx="51732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Chefs tap a button to advance orders from COOKING to READY instantaneously.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3" name="TextBox 15"/>
            <p:cNvSpPr/>
            <p:nvPr/>
          </p:nvSpPr>
          <p:spPr>
            <a:xfrm>
              <a:off x="1042920" y="3276000"/>
              <a:ext cx="46177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✓ Result: 100% paperless kitchen, zero lost tickets, and clear prep sequence.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4" name="Rectangle 16"/>
            <p:cNvSpPr/>
            <p:nvPr/>
          </p:nvSpPr>
          <p:spPr>
            <a:xfrm>
              <a:off x="6286680" y="1428840"/>
              <a:ext cx="5143320" cy="214272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5" name="Rectangle 17"/>
            <p:cNvSpPr/>
            <p:nvPr/>
          </p:nvSpPr>
          <p:spPr>
            <a:xfrm>
              <a:off x="6286680" y="1428840"/>
              <a:ext cx="75960" cy="214272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6" name="TextBox 18"/>
            <p:cNvSpPr/>
            <p:nvPr/>
          </p:nvSpPr>
          <p:spPr>
            <a:xfrm>
              <a:off x="6564600" y="1647720"/>
              <a:ext cx="244260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284c7"/>
                  </a:solidFill>
                  <a:effectLst/>
                  <a:uFillTx/>
                  <a:latin typeface="Times New Roman"/>
                  <a:ea typeface="Times New Roman"/>
                </a:rPr>
                <a:t>Table Reservation Engine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7" name="TextBox 19"/>
            <p:cNvSpPr/>
            <p:nvPr/>
          </p:nvSpPr>
          <p:spPr>
            <a:xfrm>
              <a:off x="6566760" y="1934640"/>
              <a:ext cx="26143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Time-Slot Booking &amp; Conflict Prevention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8" name="Line 20"/>
            <p:cNvSpPr/>
            <p:nvPr/>
          </p:nvSpPr>
          <p:spPr>
            <a:xfrm>
              <a:off x="6572160" y="2171880"/>
              <a:ext cx="4571640" cy="900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9" name="TextBox 21"/>
            <p:cNvSpPr/>
            <p:nvPr/>
          </p:nvSpPr>
          <p:spPr>
            <a:xfrm>
              <a:off x="6566760" y="2315520"/>
              <a:ext cx="28314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Automated Time-Slot &amp; Capacity Check: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0" name="TextBox 22"/>
            <p:cNvSpPr/>
            <p:nvPr/>
          </p:nvSpPr>
          <p:spPr>
            <a:xfrm>
              <a:off x="6566760" y="2505960"/>
              <a:ext cx="45698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Verifies party size against table capacity to eliminate overbooking conflicts.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1" name="TextBox 23"/>
            <p:cNvSpPr/>
            <p:nvPr/>
          </p:nvSpPr>
          <p:spPr>
            <a:xfrm>
              <a:off x="6566760" y="2791800"/>
              <a:ext cx="20390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Waiter Seating Coordination: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2" name="TextBox 24"/>
            <p:cNvSpPr/>
            <p:nvPr/>
          </p:nvSpPr>
          <p:spPr>
            <a:xfrm>
              <a:off x="6566760" y="2982240"/>
              <a:ext cx="45172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Floor map displays upcoming reservations and seated duration in real time.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3" name="TextBox 25"/>
            <p:cNvSpPr/>
            <p:nvPr/>
          </p:nvSpPr>
          <p:spPr>
            <a:xfrm>
              <a:off x="6567120" y="3276000"/>
              <a:ext cx="42303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0284c7"/>
                  </a:solidFill>
                  <a:effectLst/>
                  <a:uFillTx/>
                  <a:latin typeface="Times New Roman"/>
                  <a:ea typeface="Times New Roman"/>
                </a:rPr>
                <a:t>✓ Result: Optimal table turnover and smooth host seating operations.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4" name="Rectangle 26"/>
            <p:cNvSpPr/>
            <p:nvPr/>
          </p:nvSpPr>
          <p:spPr>
            <a:xfrm>
              <a:off x="762120" y="3762360"/>
              <a:ext cx="5143320" cy="223812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5" name="Rectangle 27"/>
            <p:cNvSpPr/>
            <p:nvPr/>
          </p:nvSpPr>
          <p:spPr>
            <a:xfrm>
              <a:off x="762120" y="3762360"/>
              <a:ext cx="75960" cy="223812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6" name="TextBox 28"/>
            <p:cNvSpPr/>
            <p:nvPr/>
          </p:nvSpPr>
          <p:spPr>
            <a:xfrm>
              <a:off x="1040040" y="3981600"/>
              <a:ext cx="284796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59669"/>
                  </a:solidFill>
                  <a:effectLst/>
                  <a:uFillTx/>
                  <a:latin typeface="Times New Roman"/>
                  <a:ea typeface="Times New Roman"/>
                </a:rPr>
                <a:t>Discount &amp; Promotion Engine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7" name="TextBox 29"/>
            <p:cNvSpPr/>
            <p:nvPr/>
          </p:nvSpPr>
          <p:spPr>
            <a:xfrm>
              <a:off x="1042560" y="4268160"/>
              <a:ext cx="27450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Algorithmic Voucher Validation &amp; Auditing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Line 30"/>
            <p:cNvSpPr/>
            <p:nvPr/>
          </p:nvSpPr>
          <p:spPr>
            <a:xfrm>
              <a:off x="1047600" y="4505400"/>
              <a:ext cx="4571640" cy="900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9" name="TextBox 31"/>
            <p:cNvSpPr/>
            <p:nvPr/>
          </p:nvSpPr>
          <p:spPr>
            <a:xfrm>
              <a:off x="1042560" y="4649040"/>
              <a:ext cx="21135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Flexible Promotional Schemes: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0" name="TextBox 32"/>
            <p:cNvSpPr/>
            <p:nvPr/>
          </p:nvSpPr>
          <p:spPr>
            <a:xfrm>
              <a:off x="1042560" y="4839480"/>
              <a:ext cx="44157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Supports percentage discounts (e.g. 15% off) and fixed amount vouchers.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1" name="TextBox 33"/>
            <p:cNvSpPr/>
            <p:nvPr/>
          </p:nvSpPr>
          <p:spPr>
            <a:xfrm>
              <a:off x="1042560" y="5125320"/>
              <a:ext cx="17488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Strict Rule Enforcement: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2" name="TextBox 34"/>
            <p:cNvSpPr/>
            <p:nvPr/>
          </p:nvSpPr>
          <p:spPr>
            <a:xfrm>
              <a:off x="1042560" y="5315760"/>
              <a:ext cx="42775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Validates date expiry, minimum spend threshold, and single-use limits.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3" name="TextBox 35"/>
            <p:cNvSpPr/>
            <p:nvPr/>
          </p:nvSpPr>
          <p:spPr>
            <a:xfrm>
              <a:off x="1042920" y="5657400"/>
              <a:ext cx="44467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059669"/>
                  </a:solidFill>
                  <a:effectLst/>
                  <a:uFillTx/>
                  <a:latin typeface="Times New Roman"/>
                  <a:ea typeface="Times New Roman"/>
                </a:rPr>
                <a:t>✓ Result: Secure promotions without coupon exploitation or ledger leaks.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4" name="Rectangle 36"/>
            <p:cNvSpPr/>
            <p:nvPr/>
          </p:nvSpPr>
          <p:spPr>
            <a:xfrm>
              <a:off x="6286680" y="3762360"/>
              <a:ext cx="5143320" cy="223812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5" name="Rectangle 37"/>
            <p:cNvSpPr/>
            <p:nvPr/>
          </p:nvSpPr>
          <p:spPr>
            <a:xfrm>
              <a:off x="6286680" y="3762360"/>
              <a:ext cx="75960" cy="223812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6" name="TextBox 38"/>
            <p:cNvSpPr/>
            <p:nvPr/>
          </p:nvSpPr>
          <p:spPr>
            <a:xfrm>
              <a:off x="6564600" y="3981600"/>
              <a:ext cx="310680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Managerial Analytics Dashboard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7" name="TextBox 39"/>
            <p:cNvSpPr/>
            <p:nvPr/>
          </p:nvSpPr>
          <p:spPr>
            <a:xfrm>
              <a:off x="6566760" y="4268160"/>
              <a:ext cx="31568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Real-Time Business Telemetry &amp; Staff Scheduling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8" name="Line 40"/>
            <p:cNvSpPr/>
            <p:nvPr/>
          </p:nvSpPr>
          <p:spPr>
            <a:xfrm>
              <a:off x="6572160" y="4505400"/>
              <a:ext cx="4571640" cy="9000"/>
            </a:xfrm>
            <a:custGeom>
              <a:avLst/>
              <a:gdLst>
                <a:gd name="textAreaLeft" fmla="*/ 0 w 4571640"/>
                <a:gd name="textAreaRight" fmla="*/ 4572000 w 45716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9" name="TextBox 41"/>
            <p:cNvSpPr/>
            <p:nvPr/>
          </p:nvSpPr>
          <p:spPr>
            <a:xfrm>
              <a:off x="6566760" y="4649040"/>
              <a:ext cx="27784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Visual Revenue &amp; Sales Velocity Charts: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TextBox 42"/>
            <p:cNvSpPr/>
            <p:nvPr/>
          </p:nvSpPr>
          <p:spPr>
            <a:xfrm>
              <a:off x="6566760" y="4839480"/>
              <a:ext cx="44344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Recharts charts display daily sales, peak dining hours, and profit margins.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1" name="TextBox 43"/>
            <p:cNvSpPr/>
            <p:nvPr/>
          </p:nvSpPr>
          <p:spPr>
            <a:xfrm>
              <a:off x="6566760" y="5125320"/>
              <a:ext cx="23612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Staff Roster &amp; Shift Management: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2" name="TextBox 44"/>
            <p:cNvSpPr/>
            <p:nvPr/>
          </p:nvSpPr>
          <p:spPr>
            <a:xfrm>
              <a:off x="6566760" y="5315760"/>
              <a:ext cx="46508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Assigns weekly work shifts, role designations, and labor hours per employee.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3" name="TextBox 45"/>
            <p:cNvSpPr/>
            <p:nvPr/>
          </p:nvSpPr>
          <p:spPr>
            <a:xfrm>
              <a:off x="6567120" y="5657400"/>
              <a:ext cx="45324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✓ Result: Data-driven decision making for pricing, staffing, and inventory.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74" name="footer"/>
          <p:cNvGrpSpPr/>
          <p:nvPr/>
        </p:nvGrpSpPr>
        <p:grpSpPr>
          <a:xfrm>
            <a:off x="757080" y="6238800"/>
            <a:ext cx="10677600" cy="342360"/>
            <a:chOff x="757080" y="6238800"/>
            <a:chExt cx="10677600" cy="342360"/>
          </a:xfrm>
        </p:grpSpPr>
        <p:sp>
          <p:nvSpPr>
            <p:cNvPr id="775" name="Line 47"/>
            <p:cNvSpPr/>
            <p:nvPr/>
          </p:nvSpPr>
          <p:spPr>
            <a:xfrm>
              <a:off x="762120" y="623880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6" name="TextBox 48"/>
            <p:cNvSpPr/>
            <p:nvPr/>
          </p:nvSpPr>
          <p:spPr>
            <a:xfrm>
              <a:off x="757080" y="6390720"/>
              <a:ext cx="4138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Graduation Thesis Defense: Full-Stack Restaurant Management System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7" name="TextBox 49"/>
            <p:cNvSpPr/>
            <p:nvPr/>
          </p:nvSpPr>
          <p:spPr>
            <a:xfrm>
              <a:off x="10686240" y="6390720"/>
              <a:ext cx="748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Slide 16 / 20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" name="decorations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779" name="Line 2"/>
            <p:cNvSpPr/>
            <p:nvPr/>
          </p:nvSpPr>
          <p:spPr>
            <a:xfrm>
              <a:off x="762120" y="0"/>
              <a:ext cx="9000" cy="6857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0" name="Line 3"/>
            <p:cNvSpPr/>
            <p:nvPr/>
          </p:nvSpPr>
          <p:spPr>
            <a:xfrm>
              <a:off x="11430000" y="0"/>
              <a:ext cx="9000" cy="6857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1" name="Line 4"/>
            <p:cNvSpPr/>
            <p:nvPr/>
          </p:nvSpPr>
          <p:spPr>
            <a:xfrm>
              <a:off x="0" y="6095880"/>
              <a:ext cx="12191760" cy="900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2" name="accent-graphics"/>
          <p:cNvGrpSpPr/>
          <p:nvPr/>
        </p:nvGrpSpPr>
        <p:grpSpPr>
          <a:xfrm>
            <a:off x="762120" y="380880"/>
            <a:ext cx="11238840" cy="3619440"/>
            <a:chOff x="762120" y="380880"/>
            <a:chExt cx="11238840" cy="3619440"/>
          </a:xfrm>
        </p:grpSpPr>
        <p:sp>
          <p:nvSpPr>
            <p:cNvPr id="783" name="Rectangle 6"/>
            <p:cNvSpPr/>
            <p:nvPr/>
          </p:nvSpPr>
          <p:spPr>
            <a:xfrm>
              <a:off x="762120" y="2286000"/>
              <a:ext cx="75960" cy="17143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4" name="Ellipse 7"/>
            <p:cNvSpPr/>
            <p:nvPr/>
          </p:nvSpPr>
          <p:spPr>
            <a:xfrm>
              <a:off x="9334440" y="380880"/>
              <a:ext cx="2666520" cy="2666520"/>
            </a:xfrm>
            <a:prstGeom prst="ellipse">
              <a:avLst/>
            </a:prstGeom>
            <a:solidFill>
              <a:srgbClr val="1e293b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5" name="Ellipse 8"/>
            <p:cNvSpPr/>
            <p:nvPr/>
          </p:nvSpPr>
          <p:spPr>
            <a:xfrm>
              <a:off x="9810720" y="857160"/>
              <a:ext cx="1714320" cy="1714320"/>
            </a:xfrm>
            <a:prstGeom prst="ellipse">
              <a:avLst/>
            </a:prstGeom>
            <a:solidFill>
              <a:srgbClr val="0f172a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6" name="section-badge"/>
          <p:cNvGrpSpPr/>
          <p:nvPr/>
        </p:nvGrpSpPr>
        <p:grpSpPr>
          <a:xfrm>
            <a:off x="1143000" y="2095560"/>
            <a:ext cx="1428480" cy="323640"/>
            <a:chOff x="1143000" y="2095560"/>
            <a:chExt cx="1428480" cy="323640"/>
          </a:xfrm>
        </p:grpSpPr>
        <p:sp>
          <p:nvSpPr>
            <p:cNvPr id="787" name="Rectangle 10"/>
            <p:cNvSpPr/>
            <p:nvPr/>
          </p:nvSpPr>
          <p:spPr>
            <a:xfrm>
              <a:off x="1143000" y="2095560"/>
              <a:ext cx="1428480" cy="32364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 w="14288">
              <a:solidFill>
                <a:srgbClr val="d9770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8" name="TextBox 11"/>
            <p:cNvSpPr/>
            <p:nvPr/>
          </p:nvSpPr>
          <p:spPr>
            <a:xfrm>
              <a:off x="1272240" y="2191680"/>
              <a:ext cx="11700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050" spc="74" strike="noStrike" u="none">
                  <a:solidFill>
                    <a:srgbClr val="fbbf24"/>
                  </a:solidFill>
                  <a:effectLst/>
                  <a:uFillTx/>
                  <a:latin typeface="Times New Roman"/>
                  <a:ea typeface="Times New Roman"/>
                </a:rPr>
                <a:t>SECTION 05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9" name="section-content"/>
          <p:cNvGrpSpPr/>
          <p:nvPr/>
        </p:nvGrpSpPr>
        <p:grpSpPr>
          <a:xfrm>
            <a:off x="1126080" y="2691720"/>
            <a:ext cx="6467400" cy="1011240"/>
            <a:chOff x="1126080" y="2691720"/>
            <a:chExt cx="6467400" cy="1011240"/>
          </a:xfrm>
        </p:grpSpPr>
        <p:sp>
          <p:nvSpPr>
            <p:cNvPr id="790" name="TextBox 13"/>
            <p:cNvSpPr/>
            <p:nvPr/>
          </p:nvSpPr>
          <p:spPr>
            <a:xfrm>
              <a:off x="1126080" y="2691720"/>
              <a:ext cx="582444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33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Limitations &amp; Future Work</a:t>
              </a:r>
              <a:endPara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1" name="TextBox 14"/>
            <p:cNvSpPr/>
            <p:nvPr/>
          </p:nvSpPr>
          <p:spPr>
            <a:xfrm>
              <a:off x="1135440" y="3409920"/>
              <a:ext cx="645804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50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Technical Constraints, Scalability Boundaries, and Engineering Evolution</a:t>
              </a:r>
              <a:endPara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92" name="footer"/>
          <p:cNvGrpSpPr/>
          <p:nvPr/>
        </p:nvGrpSpPr>
        <p:grpSpPr>
          <a:xfrm>
            <a:off x="1137600" y="6220800"/>
            <a:ext cx="9916560" cy="204840"/>
            <a:chOff x="1137600" y="6220800"/>
            <a:chExt cx="9916560" cy="204840"/>
          </a:xfrm>
        </p:grpSpPr>
        <p:sp>
          <p:nvSpPr>
            <p:cNvPr id="793" name="TextBox 16"/>
            <p:cNvSpPr/>
            <p:nvPr/>
          </p:nvSpPr>
          <p:spPr>
            <a:xfrm>
              <a:off x="1137600" y="6220800"/>
              <a:ext cx="40154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Restaurant Management System | Graduation Thesis Presentation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4" name="TextBox 17"/>
            <p:cNvSpPr/>
            <p:nvPr/>
          </p:nvSpPr>
          <p:spPr>
            <a:xfrm>
              <a:off x="10252080" y="6220800"/>
              <a:ext cx="8020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Slide 17 / 20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" name="header"/>
          <p:cNvGrpSpPr/>
          <p:nvPr/>
        </p:nvGrpSpPr>
        <p:grpSpPr>
          <a:xfrm>
            <a:off x="750600" y="542520"/>
            <a:ext cx="10679040" cy="644760"/>
            <a:chOff x="750600" y="542520"/>
            <a:chExt cx="10679040" cy="644760"/>
          </a:xfrm>
        </p:grpSpPr>
        <p:sp>
          <p:nvSpPr>
            <p:cNvPr id="796" name="TextBox 2"/>
            <p:cNvSpPr/>
            <p:nvPr/>
          </p:nvSpPr>
          <p:spPr>
            <a:xfrm>
              <a:off x="757080" y="542520"/>
              <a:ext cx="28731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pc="74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05. FUTURE WORK | ROADMAP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7" name="TextBox 3"/>
            <p:cNvSpPr/>
            <p:nvPr/>
          </p:nvSpPr>
          <p:spPr>
            <a:xfrm>
              <a:off x="750600" y="747720"/>
              <a:ext cx="790380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2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Current Limitations &amp;amp; Future Technical Roadmap</a:t>
              </a:r>
              <a:endParaRPr b="0" lang="en-US" sz="22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8" name="Line 4"/>
            <p:cNvSpPr/>
            <p:nvPr/>
          </p:nvSpPr>
          <p:spPr>
            <a:xfrm>
              <a:off x="762120" y="116208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99" name="comparison-columns"/>
          <p:cNvGrpSpPr/>
          <p:nvPr/>
        </p:nvGrpSpPr>
        <p:grpSpPr>
          <a:xfrm>
            <a:off x="762120" y="1428840"/>
            <a:ext cx="10667520" cy="4524120"/>
            <a:chOff x="762120" y="1428840"/>
            <a:chExt cx="10667520" cy="4524120"/>
          </a:xfrm>
        </p:grpSpPr>
        <p:sp>
          <p:nvSpPr>
            <p:cNvPr id="800" name="Rectangle 6"/>
            <p:cNvSpPr/>
            <p:nvPr/>
          </p:nvSpPr>
          <p:spPr>
            <a:xfrm>
              <a:off x="762120" y="1428840"/>
              <a:ext cx="5047920" cy="4524120"/>
            </a:xfrm>
            <a:prstGeom prst="roundRect">
              <a:avLst>
                <a:gd name="adj" fmla="val 2105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1" name="Rectangle 7"/>
            <p:cNvSpPr/>
            <p:nvPr/>
          </p:nvSpPr>
          <p:spPr>
            <a:xfrm>
              <a:off x="762120" y="1428840"/>
              <a:ext cx="5047920" cy="7596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2" name="TextBox 8"/>
            <p:cNvSpPr/>
            <p:nvPr/>
          </p:nvSpPr>
          <p:spPr>
            <a:xfrm>
              <a:off x="1040040" y="1695600"/>
              <a:ext cx="264348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ea580c"/>
                  </a:solidFill>
                  <a:effectLst/>
                  <a:uFillTx/>
                  <a:latin typeface="Times New Roman"/>
                  <a:ea typeface="Times New Roman"/>
                </a:rPr>
                <a:t>Current System Limitations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3" name="TextBox 9"/>
            <p:cNvSpPr/>
            <p:nvPr/>
          </p:nvSpPr>
          <p:spPr>
            <a:xfrm>
              <a:off x="1042560" y="1963080"/>
              <a:ext cx="30564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Architectural trade-offs made during current phase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4" name="Line 10"/>
            <p:cNvSpPr/>
            <p:nvPr/>
          </p:nvSpPr>
          <p:spPr>
            <a:xfrm>
              <a:off x="1047600" y="2209680"/>
              <a:ext cx="4476240" cy="9000"/>
            </a:xfrm>
            <a:custGeom>
              <a:avLst/>
              <a:gdLst>
                <a:gd name="textAreaLeft" fmla="*/ 0 w 4476240"/>
                <a:gd name="textAreaRight" fmla="*/ 4476600 w 44762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476750" h="9525">
                  <a:moveTo>
                    <a:pt x="0" y="0"/>
                  </a:moveTo>
                  <a:lnTo>
                    <a:pt x="44767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5" name="TextBox 11"/>
            <p:cNvSpPr/>
            <p:nvPr/>
          </p:nvSpPr>
          <p:spPr>
            <a:xfrm>
              <a:off x="1042200" y="2402640"/>
              <a:ext cx="237276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12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1. HTTP Polling vs WebSockets: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6" name="TextBox 12"/>
            <p:cNvSpPr/>
            <p:nvPr/>
          </p:nvSpPr>
          <p:spPr>
            <a:xfrm>
              <a:off x="1042920" y="2638080"/>
              <a:ext cx="33184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Order status updates currently rely on React Query polling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7" name="TextBox 13"/>
            <p:cNvSpPr/>
            <p:nvPr/>
          </p:nvSpPr>
          <p:spPr>
            <a:xfrm>
              <a:off x="1042920" y="2809440"/>
              <a:ext cx="26726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rather than persistent bidirectional socket pipes.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TextBox 14"/>
            <p:cNvSpPr/>
            <p:nvPr/>
          </p:nvSpPr>
          <p:spPr>
            <a:xfrm>
              <a:off x="1042200" y="3164760"/>
              <a:ext cx="266868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12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2. Single-Node PostgreSQL Instance: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9" name="TextBox 15"/>
            <p:cNvSpPr/>
            <p:nvPr/>
          </p:nvSpPr>
          <p:spPr>
            <a:xfrm>
              <a:off x="1042920" y="3399840"/>
              <a:ext cx="35150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Deployed as a single primary instance without distributed read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0" name="TextBox 16"/>
            <p:cNvSpPr/>
            <p:nvPr/>
          </p:nvSpPr>
          <p:spPr>
            <a:xfrm>
              <a:off x="1042920" y="3571560"/>
              <a:ext cx="24422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replicas or a dedicated Redis caching layer.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1" name="TextBox 17"/>
            <p:cNvSpPr/>
            <p:nvPr/>
          </p:nvSpPr>
          <p:spPr>
            <a:xfrm>
              <a:off x="1042200" y="3926520"/>
              <a:ext cx="223092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12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3. Manual Courier Assignment: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2" name="TextBox 18"/>
            <p:cNvSpPr/>
            <p:nvPr/>
          </p:nvSpPr>
          <p:spPr>
            <a:xfrm>
              <a:off x="1042920" y="4161960"/>
              <a:ext cx="33948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Outbound delivery orders are accepted manually by couriers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3" name="TextBox 19"/>
            <p:cNvSpPr/>
            <p:nvPr/>
          </p:nvSpPr>
          <p:spPr>
            <a:xfrm>
              <a:off x="1042920" y="4333320"/>
              <a:ext cx="25912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without automated geospatial route clustering.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4" name="TextBox 20"/>
            <p:cNvSpPr/>
            <p:nvPr/>
          </p:nvSpPr>
          <p:spPr>
            <a:xfrm>
              <a:off x="1042200" y="4688640"/>
              <a:ext cx="235800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12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4. Rule-Based Menu Suggestions: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5" name="TextBox 21"/>
            <p:cNvSpPr/>
            <p:nvPr/>
          </p:nvSpPr>
          <p:spPr>
            <a:xfrm>
              <a:off x="1042920" y="4924080"/>
              <a:ext cx="32936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Item recommendations rely on static categories rather than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6" name="TextBox 22"/>
            <p:cNvSpPr/>
            <p:nvPr/>
          </p:nvSpPr>
          <p:spPr>
            <a:xfrm>
              <a:off x="1042920" y="5095440"/>
              <a:ext cx="2254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machine learning collaborative filtering.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7" name="Rectangle 23"/>
            <p:cNvSpPr/>
            <p:nvPr/>
          </p:nvSpPr>
          <p:spPr>
            <a:xfrm>
              <a:off x="1047600" y="5477040"/>
              <a:ext cx="4476240" cy="333000"/>
            </a:xfrm>
            <a:prstGeom prst="roundRect">
              <a:avLst>
                <a:gd name="adj" fmla="val 17143"/>
              </a:avLst>
            </a:prstGeom>
            <a:solidFill>
              <a:srgbClr val="fff7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8" name="TextBox 24"/>
            <p:cNvSpPr/>
            <p:nvPr/>
          </p:nvSpPr>
          <p:spPr>
            <a:xfrm>
              <a:off x="1754640" y="5590800"/>
              <a:ext cx="30628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9a3412"/>
                  </a:solidFill>
                  <a:effectLst/>
                  <a:uFillTx/>
                  <a:latin typeface="Times New Roman"/>
                  <a:ea typeface="Times New Roman"/>
                </a:rPr>
                <a:t>Acceptable for single restaurant; target for scaling.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" name="Rectangle 25"/>
            <p:cNvSpPr/>
            <p:nvPr/>
          </p:nvSpPr>
          <p:spPr>
            <a:xfrm>
              <a:off x="6191280" y="1428840"/>
              <a:ext cx="5238360" cy="4524120"/>
            </a:xfrm>
            <a:prstGeom prst="roundRect">
              <a:avLst>
                <a:gd name="adj" fmla="val 2105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0" name="Rectangle 26"/>
            <p:cNvSpPr/>
            <p:nvPr/>
          </p:nvSpPr>
          <p:spPr>
            <a:xfrm>
              <a:off x="6191280" y="1428840"/>
              <a:ext cx="5238360" cy="7596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1" name="TextBox 27"/>
            <p:cNvSpPr/>
            <p:nvPr/>
          </p:nvSpPr>
          <p:spPr>
            <a:xfrm>
              <a:off x="6469560" y="1695600"/>
              <a:ext cx="260136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284c7"/>
                  </a:solidFill>
                  <a:effectLst/>
                  <a:uFillTx/>
                  <a:latin typeface="Times New Roman"/>
                  <a:ea typeface="Times New Roman"/>
                </a:rPr>
                <a:t>Future Technical Roadmap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2" name="TextBox 28"/>
            <p:cNvSpPr/>
            <p:nvPr/>
          </p:nvSpPr>
          <p:spPr>
            <a:xfrm>
              <a:off x="6471720" y="1963080"/>
              <a:ext cx="32716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Targeted engineering milestones for enterprise scaling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3" name="Line 29"/>
            <p:cNvSpPr/>
            <p:nvPr/>
          </p:nvSpPr>
          <p:spPr>
            <a:xfrm>
              <a:off x="6477120" y="2209680"/>
              <a:ext cx="4667040" cy="9000"/>
            </a:xfrm>
            <a:custGeom>
              <a:avLst/>
              <a:gdLst>
                <a:gd name="textAreaLeft" fmla="*/ 0 w 4667040"/>
                <a:gd name="textAreaRight" fmla="*/ 4667400 w 46670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4" name="TextBox 30"/>
            <p:cNvSpPr/>
            <p:nvPr/>
          </p:nvSpPr>
          <p:spPr>
            <a:xfrm>
              <a:off x="6471360" y="2402640"/>
              <a:ext cx="324072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12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1. Full-Duplex WebSockets / SSE Event Bus: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5" name="TextBox 31"/>
            <p:cNvSpPr/>
            <p:nvPr/>
          </p:nvSpPr>
          <p:spPr>
            <a:xfrm>
              <a:off x="6472080" y="2638080"/>
              <a:ext cx="39322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Implement native ASGI WebSockets for instantaneous, zero-latency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6" name="TextBox 32"/>
            <p:cNvSpPr/>
            <p:nvPr/>
          </p:nvSpPr>
          <p:spPr>
            <a:xfrm>
              <a:off x="6472080" y="2809440"/>
              <a:ext cx="36910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ticket push notifications to kitchen displays and customer screens.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7" name="TextBox 33"/>
            <p:cNvSpPr/>
            <p:nvPr/>
          </p:nvSpPr>
          <p:spPr>
            <a:xfrm>
              <a:off x="6471360" y="3164760"/>
              <a:ext cx="290160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12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2. AI-Powered Recommendation Engine: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8" name="TextBox 34"/>
            <p:cNvSpPr/>
            <p:nvPr/>
          </p:nvSpPr>
          <p:spPr>
            <a:xfrm>
              <a:off x="6472080" y="3399840"/>
              <a:ext cx="35337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Incorporate collaborative filtering to recommend dish pairings,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9" name="TextBox 35"/>
            <p:cNvSpPr/>
            <p:nvPr/>
          </p:nvSpPr>
          <p:spPr>
            <a:xfrm>
              <a:off x="6472080" y="3571560"/>
              <a:ext cx="32882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drinks, and desserts based on historical dining preferences.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0" name="TextBox 36"/>
            <p:cNvSpPr/>
            <p:nvPr/>
          </p:nvSpPr>
          <p:spPr>
            <a:xfrm>
              <a:off x="6471360" y="3926520"/>
              <a:ext cx="243252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12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3. Automated Route Optimization: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1" name="TextBox 37"/>
            <p:cNvSpPr/>
            <p:nvPr/>
          </p:nvSpPr>
          <p:spPr>
            <a:xfrm>
              <a:off x="6472080" y="4161960"/>
              <a:ext cx="36190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Integrate routing algorithms (e.g. OSRM / Google Maps API)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" name="TextBox 38"/>
            <p:cNvSpPr/>
            <p:nvPr/>
          </p:nvSpPr>
          <p:spPr>
            <a:xfrm>
              <a:off x="6472080" y="4333320"/>
              <a:ext cx="33192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to cluster delivery stops and minimize courier transit times.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" name="TextBox 39"/>
            <p:cNvSpPr/>
            <p:nvPr/>
          </p:nvSpPr>
          <p:spPr>
            <a:xfrm>
              <a:off x="6471360" y="4688640"/>
              <a:ext cx="316728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12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4. Smart Kitchen IoT Appliance Integration: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4" name="TextBox 40"/>
            <p:cNvSpPr/>
            <p:nvPr/>
          </p:nvSpPr>
          <p:spPr>
            <a:xfrm>
              <a:off x="6472080" y="4924080"/>
              <a:ext cx="37900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Direct event hooks into commercial fryers and ovens for automated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5" name="TextBox 41"/>
            <p:cNvSpPr/>
            <p:nvPr/>
          </p:nvSpPr>
          <p:spPr>
            <a:xfrm>
              <a:off x="6472080" y="5095440"/>
              <a:ext cx="3082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cook-time tracking and temperature safety compliance.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6" name="Rectangle 42"/>
            <p:cNvSpPr/>
            <p:nvPr/>
          </p:nvSpPr>
          <p:spPr>
            <a:xfrm>
              <a:off x="6477120" y="5477040"/>
              <a:ext cx="4667040" cy="333000"/>
            </a:xfrm>
            <a:prstGeom prst="roundRect">
              <a:avLst>
                <a:gd name="adj" fmla="val 17143"/>
              </a:avLst>
            </a:prstGeom>
            <a:solidFill>
              <a:srgbClr val="f0f9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7" name="TextBox 43"/>
            <p:cNvSpPr/>
            <p:nvPr/>
          </p:nvSpPr>
          <p:spPr>
            <a:xfrm>
              <a:off x="7106760" y="5590800"/>
              <a:ext cx="34077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980" strike="noStrike" u="none">
                  <a:solidFill>
                    <a:srgbClr val="0369a1"/>
                  </a:solidFill>
                  <a:effectLst/>
                  <a:uFillTx/>
                  <a:latin typeface="Times New Roman"/>
                  <a:ea typeface="Times New Roman"/>
                </a:rPr>
                <a:t>Scales architecture to multi-branch franchise operations.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38" name="footer"/>
          <p:cNvGrpSpPr/>
          <p:nvPr/>
        </p:nvGrpSpPr>
        <p:grpSpPr>
          <a:xfrm>
            <a:off x="757080" y="6238800"/>
            <a:ext cx="10677600" cy="342360"/>
            <a:chOff x="757080" y="6238800"/>
            <a:chExt cx="10677600" cy="342360"/>
          </a:xfrm>
        </p:grpSpPr>
        <p:sp>
          <p:nvSpPr>
            <p:cNvPr id="839" name="Line 45"/>
            <p:cNvSpPr/>
            <p:nvPr/>
          </p:nvSpPr>
          <p:spPr>
            <a:xfrm>
              <a:off x="762120" y="623880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0" name="TextBox 46"/>
            <p:cNvSpPr/>
            <p:nvPr/>
          </p:nvSpPr>
          <p:spPr>
            <a:xfrm>
              <a:off x="757080" y="6390720"/>
              <a:ext cx="4138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Graduation Thesis Defense: Full-Stack Restaurant Management System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1" name="TextBox 47"/>
            <p:cNvSpPr/>
            <p:nvPr/>
          </p:nvSpPr>
          <p:spPr>
            <a:xfrm>
              <a:off x="10686240" y="6390720"/>
              <a:ext cx="748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Slide 18 / 20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2" name="decorations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843" name="Line 2"/>
            <p:cNvSpPr/>
            <p:nvPr/>
          </p:nvSpPr>
          <p:spPr>
            <a:xfrm>
              <a:off x="762120" y="0"/>
              <a:ext cx="9000" cy="6857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Line 3"/>
            <p:cNvSpPr/>
            <p:nvPr/>
          </p:nvSpPr>
          <p:spPr>
            <a:xfrm>
              <a:off x="11430000" y="0"/>
              <a:ext cx="9000" cy="68576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5" name="Line 4"/>
            <p:cNvSpPr/>
            <p:nvPr/>
          </p:nvSpPr>
          <p:spPr>
            <a:xfrm>
              <a:off x="0" y="6095880"/>
              <a:ext cx="12191760" cy="900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1e293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46" name="accent-graphics"/>
          <p:cNvGrpSpPr/>
          <p:nvPr/>
        </p:nvGrpSpPr>
        <p:grpSpPr>
          <a:xfrm>
            <a:off x="762120" y="380880"/>
            <a:ext cx="11238840" cy="3619440"/>
            <a:chOff x="762120" y="380880"/>
            <a:chExt cx="11238840" cy="3619440"/>
          </a:xfrm>
        </p:grpSpPr>
        <p:sp>
          <p:nvSpPr>
            <p:cNvPr id="847" name="Rectangle 6"/>
            <p:cNvSpPr/>
            <p:nvPr/>
          </p:nvSpPr>
          <p:spPr>
            <a:xfrm>
              <a:off x="762120" y="2286000"/>
              <a:ext cx="75960" cy="17143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8" name="Ellipse 7"/>
            <p:cNvSpPr/>
            <p:nvPr/>
          </p:nvSpPr>
          <p:spPr>
            <a:xfrm>
              <a:off x="9334440" y="380880"/>
              <a:ext cx="2666520" cy="2666520"/>
            </a:xfrm>
            <a:prstGeom prst="ellipse">
              <a:avLst/>
            </a:prstGeom>
            <a:solidFill>
              <a:srgbClr val="1e293b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9" name="Ellipse 8"/>
            <p:cNvSpPr/>
            <p:nvPr/>
          </p:nvSpPr>
          <p:spPr>
            <a:xfrm>
              <a:off x="9810720" y="857160"/>
              <a:ext cx="1714320" cy="1714320"/>
            </a:xfrm>
            <a:prstGeom prst="ellipse">
              <a:avLst/>
            </a:prstGeom>
            <a:solidFill>
              <a:srgbClr val="0f172a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50" name="section-badge"/>
          <p:cNvGrpSpPr/>
          <p:nvPr/>
        </p:nvGrpSpPr>
        <p:grpSpPr>
          <a:xfrm>
            <a:off x="1143000" y="2095560"/>
            <a:ext cx="1428480" cy="323640"/>
            <a:chOff x="1143000" y="2095560"/>
            <a:chExt cx="1428480" cy="323640"/>
          </a:xfrm>
        </p:grpSpPr>
        <p:sp>
          <p:nvSpPr>
            <p:cNvPr id="851" name="Rectangle 10"/>
            <p:cNvSpPr/>
            <p:nvPr/>
          </p:nvSpPr>
          <p:spPr>
            <a:xfrm>
              <a:off x="1143000" y="2095560"/>
              <a:ext cx="1428480" cy="32364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 w="14288">
              <a:solidFill>
                <a:srgbClr val="d9770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2" name="TextBox 11"/>
            <p:cNvSpPr/>
            <p:nvPr/>
          </p:nvSpPr>
          <p:spPr>
            <a:xfrm>
              <a:off x="1272240" y="2191680"/>
              <a:ext cx="11700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050" spc="74" strike="noStrike" u="none">
                  <a:solidFill>
                    <a:srgbClr val="fbbf24"/>
                  </a:solidFill>
                  <a:effectLst/>
                  <a:uFillTx/>
                  <a:latin typeface="Times New Roman"/>
                  <a:ea typeface="Times New Roman"/>
                </a:rPr>
                <a:t>SECTION 06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53" name="section-content"/>
          <p:cNvGrpSpPr/>
          <p:nvPr/>
        </p:nvGrpSpPr>
        <p:grpSpPr>
          <a:xfrm>
            <a:off x="1126080" y="2691720"/>
            <a:ext cx="6276960" cy="1011240"/>
            <a:chOff x="1126080" y="2691720"/>
            <a:chExt cx="6276960" cy="1011240"/>
          </a:xfrm>
        </p:grpSpPr>
        <p:sp>
          <p:nvSpPr>
            <p:cNvPr id="854" name="TextBox 13"/>
            <p:cNvSpPr/>
            <p:nvPr/>
          </p:nvSpPr>
          <p:spPr>
            <a:xfrm>
              <a:off x="1126080" y="2691720"/>
              <a:ext cx="605916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3300" strike="noStrike" u="none">
                  <a:solidFill>
                    <a:srgbClr val="ffffff"/>
                  </a:solidFill>
                  <a:effectLst/>
                  <a:uFillTx/>
                  <a:latin typeface="Times New Roman"/>
                  <a:ea typeface="Times New Roman"/>
                </a:rPr>
                <a:t>Conclusion &amp; Final Remarks</a:t>
              </a:r>
              <a:endParaRPr b="0" lang="en-US" sz="33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5" name="TextBox 14"/>
            <p:cNvSpPr/>
            <p:nvPr/>
          </p:nvSpPr>
          <p:spPr>
            <a:xfrm>
              <a:off x="1135440" y="3409920"/>
              <a:ext cx="626760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50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Research Contributions, Production Takeaways, and Defense Summary</a:t>
              </a:r>
              <a:endPara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56" name="footer"/>
          <p:cNvGrpSpPr/>
          <p:nvPr/>
        </p:nvGrpSpPr>
        <p:grpSpPr>
          <a:xfrm>
            <a:off x="1137600" y="6220800"/>
            <a:ext cx="9916560" cy="204840"/>
            <a:chOff x="1137600" y="6220800"/>
            <a:chExt cx="9916560" cy="204840"/>
          </a:xfrm>
        </p:grpSpPr>
        <p:sp>
          <p:nvSpPr>
            <p:cNvPr id="857" name="TextBox 16"/>
            <p:cNvSpPr/>
            <p:nvPr/>
          </p:nvSpPr>
          <p:spPr>
            <a:xfrm>
              <a:off x="1137600" y="6220800"/>
              <a:ext cx="40154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Restaurant Management System | Graduation Thesis Presentation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TextBox 17"/>
            <p:cNvSpPr/>
            <p:nvPr/>
          </p:nvSpPr>
          <p:spPr>
            <a:xfrm>
              <a:off x="10252080" y="6220800"/>
              <a:ext cx="8020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Slide 19 / 20</a:t>
              </a:r>
              <a:endParaRPr b="0" lang="en-US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9" name="header"/>
          <p:cNvGrpSpPr/>
          <p:nvPr/>
        </p:nvGrpSpPr>
        <p:grpSpPr>
          <a:xfrm>
            <a:off x="750600" y="542520"/>
            <a:ext cx="10679040" cy="644760"/>
            <a:chOff x="750600" y="542520"/>
            <a:chExt cx="10679040" cy="644760"/>
          </a:xfrm>
        </p:grpSpPr>
        <p:sp>
          <p:nvSpPr>
            <p:cNvPr id="860" name="TextBox 2"/>
            <p:cNvSpPr/>
            <p:nvPr/>
          </p:nvSpPr>
          <p:spPr>
            <a:xfrm>
              <a:off x="757080" y="542520"/>
              <a:ext cx="36601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980" spc="74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06. CONCLUSION | DEFENSE SUMMARY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1" name="TextBox 3"/>
            <p:cNvSpPr/>
            <p:nvPr/>
          </p:nvSpPr>
          <p:spPr>
            <a:xfrm>
              <a:off x="750600" y="747720"/>
              <a:ext cx="756252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25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Key Research Contributions &amp;amp; Final Conclusion</a:t>
              </a:r>
              <a:endParaRPr b="0" lang="en-US" sz="22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2" name="Line 4"/>
            <p:cNvSpPr/>
            <p:nvPr/>
          </p:nvSpPr>
          <p:spPr>
            <a:xfrm>
              <a:off x="762120" y="116208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63" name="summary-cards"/>
          <p:cNvGrpSpPr/>
          <p:nvPr/>
        </p:nvGrpSpPr>
        <p:grpSpPr>
          <a:xfrm>
            <a:off x="762120" y="1428840"/>
            <a:ext cx="10667520" cy="3238200"/>
            <a:chOff x="762120" y="1428840"/>
            <a:chExt cx="10667520" cy="3238200"/>
          </a:xfrm>
        </p:grpSpPr>
        <p:sp>
          <p:nvSpPr>
            <p:cNvPr id="864" name="Rectangle 6"/>
            <p:cNvSpPr/>
            <p:nvPr/>
          </p:nvSpPr>
          <p:spPr>
            <a:xfrm>
              <a:off x="762120" y="1428840"/>
              <a:ext cx="3285720" cy="3238200"/>
            </a:xfrm>
            <a:prstGeom prst="roundRect">
              <a:avLst>
                <a:gd name="adj" fmla="val 2941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5" name="Rectangle 7"/>
            <p:cNvSpPr/>
            <p:nvPr/>
          </p:nvSpPr>
          <p:spPr>
            <a:xfrm>
              <a:off x="762120" y="1428840"/>
              <a:ext cx="3285720" cy="7596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6" name="Ellipse 8"/>
            <p:cNvSpPr/>
            <p:nvPr/>
          </p:nvSpPr>
          <p:spPr>
            <a:xfrm>
              <a:off x="1028880" y="1647720"/>
              <a:ext cx="418680" cy="418680"/>
            </a:xfrm>
            <a:prstGeom prst="ellipse">
              <a:avLst/>
            </a:prstGeom>
            <a:solidFill>
              <a:srgbClr val="e0f2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TextBox 9"/>
            <p:cNvSpPr/>
            <p:nvPr/>
          </p:nvSpPr>
          <p:spPr>
            <a:xfrm>
              <a:off x="1130400" y="1787760"/>
              <a:ext cx="214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0284c7"/>
                  </a:solidFill>
                  <a:effectLst/>
                  <a:uFillTx/>
                  <a:latin typeface="Times New Roman"/>
                  <a:ea typeface="Times New Roman"/>
                </a:rPr>
                <a:t>✓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8" name="TextBox 10"/>
            <p:cNvSpPr/>
            <p:nvPr/>
          </p:nvSpPr>
          <p:spPr>
            <a:xfrm>
              <a:off x="1612080" y="1770120"/>
              <a:ext cx="2159640" cy="27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42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Unified 5-Role Platform</a:t>
              </a:r>
              <a:endParaRPr b="0" lang="en-US" sz="14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9" name="Line 11"/>
            <p:cNvSpPr/>
            <p:nvPr/>
          </p:nvSpPr>
          <p:spPr>
            <a:xfrm>
              <a:off x="1000080" y="2190600"/>
              <a:ext cx="2857320" cy="9000"/>
            </a:xfrm>
            <a:custGeom>
              <a:avLst/>
              <a:gdLst>
                <a:gd name="textAreaLeft" fmla="*/ 0 w 2857320"/>
                <a:gd name="textAreaRight" fmla="*/ 2857680 w 28573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0" name="TextBox 12"/>
            <p:cNvSpPr/>
            <p:nvPr/>
          </p:nvSpPr>
          <p:spPr>
            <a:xfrm>
              <a:off x="994680" y="2363040"/>
              <a:ext cx="20376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Eliminated Operational Silos: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1" name="TextBox 13"/>
            <p:cNvSpPr/>
            <p:nvPr/>
          </p:nvSpPr>
          <p:spPr>
            <a:xfrm>
              <a:off x="995040" y="2561760"/>
              <a:ext cx="21294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Bridges customers, waitstaff, kitchen,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2" name="TextBox 14"/>
            <p:cNvSpPr/>
            <p:nvPr/>
          </p:nvSpPr>
          <p:spPr>
            <a:xfrm>
              <a:off x="995040" y="2733120"/>
              <a:ext cx="2227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couriers, and managers in one database.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3" name="TextBox 15"/>
            <p:cNvSpPr/>
            <p:nvPr/>
          </p:nvSpPr>
          <p:spPr>
            <a:xfrm>
              <a:off x="994680" y="3077640"/>
              <a:ext cx="161460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Paperless Digital Flow: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4" name="TextBox 16"/>
            <p:cNvSpPr/>
            <p:nvPr/>
          </p:nvSpPr>
          <p:spPr>
            <a:xfrm>
              <a:off x="995040" y="3276000"/>
              <a:ext cx="21092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Replaced error-prone physical tickets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5" name="TextBox 17"/>
            <p:cNvSpPr/>
            <p:nvPr/>
          </p:nvSpPr>
          <p:spPr>
            <a:xfrm>
              <a:off x="995040" y="3447720"/>
              <a:ext cx="22172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with real-time KDS state progressions.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6" name="TextBox 18"/>
            <p:cNvSpPr/>
            <p:nvPr/>
          </p:nvSpPr>
          <p:spPr>
            <a:xfrm>
              <a:off x="994680" y="3791880"/>
              <a:ext cx="13467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Granular Security: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7" name="TextBox 19"/>
            <p:cNvSpPr/>
            <p:nvPr/>
          </p:nvSpPr>
          <p:spPr>
            <a:xfrm>
              <a:off x="995040" y="3990600"/>
              <a:ext cx="22543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Enforced end-to-end RBAC and JWT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" name="TextBox 20"/>
            <p:cNvSpPr/>
            <p:nvPr/>
          </p:nvSpPr>
          <p:spPr>
            <a:xfrm>
              <a:off x="995040" y="4161960"/>
              <a:ext cx="17125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authorization across all routes.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9" name="Rectangle 21"/>
            <p:cNvSpPr/>
            <p:nvPr/>
          </p:nvSpPr>
          <p:spPr>
            <a:xfrm>
              <a:off x="4429080" y="1428840"/>
              <a:ext cx="3333240" cy="3238200"/>
            </a:xfrm>
            <a:prstGeom prst="roundRect">
              <a:avLst>
                <a:gd name="adj" fmla="val 2941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0" name="Rectangle 22"/>
            <p:cNvSpPr/>
            <p:nvPr/>
          </p:nvSpPr>
          <p:spPr>
            <a:xfrm>
              <a:off x="4429080" y="1428840"/>
              <a:ext cx="3333240" cy="7596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1" name="Ellipse 23"/>
            <p:cNvSpPr/>
            <p:nvPr/>
          </p:nvSpPr>
          <p:spPr>
            <a:xfrm>
              <a:off x="4695840" y="1647720"/>
              <a:ext cx="418680" cy="418680"/>
            </a:xfrm>
            <a:prstGeom prst="ellipse">
              <a:avLst/>
            </a:prstGeom>
            <a:solidFill>
              <a:srgbClr val="d1fa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2" name="TextBox 24"/>
            <p:cNvSpPr/>
            <p:nvPr/>
          </p:nvSpPr>
          <p:spPr>
            <a:xfrm>
              <a:off x="4797720" y="1787760"/>
              <a:ext cx="214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059669"/>
                  </a:solidFill>
                  <a:effectLst/>
                  <a:uFillTx/>
                  <a:latin typeface="Times New Roman"/>
                  <a:ea typeface="Times New Roman"/>
                </a:rPr>
                <a:t>✓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3" name="TextBox 25"/>
            <p:cNvSpPr/>
            <p:nvPr/>
          </p:nvSpPr>
          <p:spPr>
            <a:xfrm>
              <a:off x="5279040" y="1770120"/>
              <a:ext cx="2203200" cy="27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42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Validated Modern Stack</a:t>
              </a:r>
              <a:endParaRPr b="0" lang="en-US" sz="14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4" name="Line 26"/>
            <p:cNvSpPr/>
            <p:nvPr/>
          </p:nvSpPr>
          <p:spPr>
            <a:xfrm>
              <a:off x="4667400" y="2190600"/>
              <a:ext cx="2857320" cy="9000"/>
            </a:xfrm>
            <a:custGeom>
              <a:avLst/>
              <a:gdLst>
                <a:gd name="textAreaLeft" fmla="*/ 0 w 2857320"/>
                <a:gd name="textAreaRight" fmla="*/ 2857680 w 28573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5" name="TextBox 27"/>
            <p:cNvSpPr/>
            <p:nvPr/>
          </p:nvSpPr>
          <p:spPr>
            <a:xfrm>
              <a:off x="4662000" y="2363040"/>
              <a:ext cx="16455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React 19 + Vite Agility: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6" name="TextBox 28"/>
            <p:cNvSpPr/>
            <p:nvPr/>
          </p:nvSpPr>
          <p:spPr>
            <a:xfrm>
              <a:off x="4662360" y="2561760"/>
              <a:ext cx="2152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Sub-second client rendering and clean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7" name="TextBox 29"/>
            <p:cNvSpPr/>
            <p:nvPr/>
          </p:nvSpPr>
          <p:spPr>
            <a:xfrm>
              <a:off x="4662360" y="2733120"/>
              <a:ext cx="22024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declarative SPA state synchronization.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8" name="TextBox 30"/>
            <p:cNvSpPr/>
            <p:nvPr/>
          </p:nvSpPr>
          <p:spPr>
            <a:xfrm>
              <a:off x="4662000" y="3077640"/>
              <a:ext cx="202284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FastAPI Async Throughput: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TextBox 31"/>
            <p:cNvSpPr/>
            <p:nvPr/>
          </p:nvSpPr>
          <p:spPr>
            <a:xfrm>
              <a:off x="4662360" y="3276000"/>
              <a:ext cx="21758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High concurrent request handling with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0" name="TextBox 32"/>
            <p:cNvSpPr/>
            <p:nvPr/>
          </p:nvSpPr>
          <p:spPr>
            <a:xfrm>
              <a:off x="4662360" y="3447720"/>
              <a:ext cx="24289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sub-millisecond Pydantic DTO validation.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1" name="TextBox 33"/>
            <p:cNvSpPr/>
            <p:nvPr/>
          </p:nvSpPr>
          <p:spPr>
            <a:xfrm>
              <a:off x="4662000" y="3791880"/>
              <a:ext cx="225972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PostgreSQL ACID Robustness: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2" name="TextBox 34"/>
            <p:cNvSpPr/>
            <p:nvPr/>
          </p:nvSpPr>
          <p:spPr>
            <a:xfrm>
              <a:off x="4662360" y="3990600"/>
              <a:ext cx="206280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Guaranteed zero financial anomalies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" name="TextBox 35"/>
            <p:cNvSpPr/>
            <p:nvPr/>
          </p:nvSpPr>
          <p:spPr>
            <a:xfrm>
              <a:off x="4662360" y="4161960"/>
              <a:ext cx="19717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and zero inventory race conditions.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" name="Rectangle 36"/>
            <p:cNvSpPr/>
            <p:nvPr/>
          </p:nvSpPr>
          <p:spPr>
            <a:xfrm>
              <a:off x="8143920" y="1428840"/>
              <a:ext cx="3285720" cy="3238200"/>
            </a:xfrm>
            <a:prstGeom prst="roundRect">
              <a:avLst>
                <a:gd name="adj" fmla="val 2941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5" name="Rectangle 37"/>
            <p:cNvSpPr/>
            <p:nvPr/>
          </p:nvSpPr>
          <p:spPr>
            <a:xfrm>
              <a:off x="8143920" y="1428840"/>
              <a:ext cx="3285720" cy="7596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6" name="Ellipse 38"/>
            <p:cNvSpPr/>
            <p:nvPr/>
          </p:nvSpPr>
          <p:spPr>
            <a:xfrm>
              <a:off x="8410680" y="1647720"/>
              <a:ext cx="418680" cy="418680"/>
            </a:xfrm>
            <a:prstGeom prst="ellipse">
              <a:avLst/>
            </a:prstGeom>
            <a:solidFill>
              <a:srgbClr val="fef3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7" name="TextBox 39"/>
            <p:cNvSpPr/>
            <p:nvPr/>
          </p:nvSpPr>
          <p:spPr>
            <a:xfrm>
              <a:off x="8512560" y="1787760"/>
              <a:ext cx="214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lang="en-US" sz="1350" strike="noStrike" u="none">
                  <a:solidFill>
                    <a:srgbClr val="d97706"/>
                  </a:solidFill>
                  <a:effectLst/>
                  <a:uFillTx/>
                  <a:latin typeface="Times New Roman"/>
                  <a:ea typeface="Times New Roman"/>
                </a:rPr>
                <a:t>✓</a:t>
              </a:r>
              <a:endParaRPr b="0" lang="en-US" sz="13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8" name="TextBox 40"/>
            <p:cNvSpPr/>
            <p:nvPr/>
          </p:nvSpPr>
          <p:spPr>
            <a:xfrm>
              <a:off x="8993880" y="1770120"/>
              <a:ext cx="2297880" cy="27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420" strike="noStrike" u="none">
                  <a:solidFill>
                    <a:srgbClr val="0f172a"/>
                  </a:solidFill>
                  <a:effectLst/>
                  <a:uFillTx/>
                  <a:latin typeface="Times New Roman"/>
                  <a:ea typeface="Times New Roman"/>
                </a:rPr>
                <a:t>Production-Grade Design</a:t>
              </a:r>
              <a:endParaRPr b="0" lang="en-US" sz="14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9" name="Line 41"/>
            <p:cNvSpPr/>
            <p:nvPr/>
          </p:nvSpPr>
          <p:spPr>
            <a:xfrm>
              <a:off x="8381880" y="2190600"/>
              <a:ext cx="2857320" cy="9000"/>
            </a:xfrm>
            <a:custGeom>
              <a:avLst/>
              <a:gdLst>
                <a:gd name="textAreaLeft" fmla="*/ 0 w 2857320"/>
                <a:gd name="textAreaRight" fmla="*/ 2857680 w 28573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0" name="TextBox 42"/>
            <p:cNvSpPr/>
            <p:nvPr/>
          </p:nvSpPr>
          <p:spPr>
            <a:xfrm>
              <a:off x="8376840" y="2363040"/>
              <a:ext cx="18921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Clean Layered Decoupling: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1" name="TextBox 43"/>
            <p:cNvSpPr/>
            <p:nvPr/>
          </p:nvSpPr>
          <p:spPr>
            <a:xfrm>
              <a:off x="8377200" y="2561760"/>
              <a:ext cx="20786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Controller → Service → Repository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2" name="TextBox 44"/>
            <p:cNvSpPr/>
            <p:nvPr/>
          </p:nvSpPr>
          <p:spPr>
            <a:xfrm>
              <a:off x="8377200" y="2733120"/>
              <a:ext cx="23241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architecture ensures long-term testability.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3" name="TextBox 45"/>
            <p:cNvSpPr/>
            <p:nvPr/>
          </p:nvSpPr>
          <p:spPr>
            <a:xfrm>
              <a:off x="8376840" y="3077640"/>
              <a:ext cx="195768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Comprehensive Feature Set: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4" name="TextBox 46"/>
            <p:cNvSpPr/>
            <p:nvPr/>
          </p:nvSpPr>
          <p:spPr>
            <a:xfrm>
              <a:off x="8377200" y="3276000"/>
              <a:ext cx="216792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Dine-in QR, delivery logistics, KDS,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5" name="TextBox 47"/>
            <p:cNvSpPr/>
            <p:nvPr/>
          </p:nvSpPr>
          <p:spPr>
            <a:xfrm>
              <a:off x="8377200" y="3447720"/>
              <a:ext cx="20919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vouchers, reservations, and analytics.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6" name="TextBox 48"/>
            <p:cNvSpPr/>
            <p:nvPr/>
          </p:nvSpPr>
          <p:spPr>
            <a:xfrm>
              <a:off x="8376840" y="3791880"/>
              <a:ext cx="1847160" cy="20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marL="79920" indent="-79920" defTabSz="457200">
                <a:lnSpc>
                  <a:spcPct val="100000"/>
                </a:lnSpc>
                <a:buClr>
                  <a:srgbClr val="334155"/>
                </a:buClr>
                <a:buFont typeface="Symbol" charset="2"/>
                <a:buChar char=""/>
              </a:pPr>
              <a:r>
                <a:rPr b="1" lang="en-US" sz="1050" strike="noStrike" u="none">
                  <a:solidFill>
                    <a:srgbClr val="334155"/>
                  </a:solidFill>
                  <a:effectLst/>
                  <a:uFillTx/>
                  <a:latin typeface="Times New Roman"/>
                  <a:ea typeface="Times New Roman"/>
                </a:rPr>
                <a:t>Practical Industry Impact: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7" name="TextBox 49"/>
            <p:cNvSpPr/>
            <p:nvPr/>
          </p:nvSpPr>
          <p:spPr>
            <a:xfrm>
              <a:off x="8377200" y="3990600"/>
              <a:ext cx="20858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Delivers measurable efficiency gains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" name="TextBox 50"/>
            <p:cNvSpPr/>
            <p:nvPr/>
          </p:nvSpPr>
          <p:spPr>
            <a:xfrm>
              <a:off x="8377200" y="4161960"/>
              <a:ext cx="235908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for contemporary food service businesses.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09" name="closing-banner"/>
          <p:cNvGrpSpPr/>
          <p:nvPr/>
        </p:nvGrpSpPr>
        <p:grpSpPr>
          <a:xfrm>
            <a:off x="762120" y="4905360"/>
            <a:ext cx="10667520" cy="1095120"/>
            <a:chOff x="762120" y="4905360"/>
            <a:chExt cx="10667520" cy="1095120"/>
          </a:xfrm>
        </p:grpSpPr>
        <p:sp>
          <p:nvSpPr>
            <p:cNvPr id="910" name="Rectangle 52"/>
            <p:cNvSpPr/>
            <p:nvPr/>
          </p:nvSpPr>
          <p:spPr>
            <a:xfrm>
              <a:off x="762120" y="4905360"/>
              <a:ext cx="10667520" cy="1095120"/>
            </a:xfrm>
            <a:prstGeom prst="roundRect">
              <a:avLst>
                <a:gd name="adj" fmla="val 6957"/>
              </a:avLst>
            </a:prstGeom>
            <a:solidFill>
              <a:srgbClr val="0b13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1" name="Rectangle 53"/>
            <p:cNvSpPr/>
            <p:nvPr/>
          </p:nvSpPr>
          <p:spPr>
            <a:xfrm>
              <a:off x="762120" y="4905360"/>
              <a:ext cx="75960" cy="10951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2" name="TextBox 54"/>
            <p:cNvSpPr/>
            <p:nvPr/>
          </p:nvSpPr>
          <p:spPr>
            <a:xfrm>
              <a:off x="1086840" y="5108400"/>
              <a:ext cx="434700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1650" strike="noStrike" u="none">
                  <a:solidFill>
                    <a:srgbClr val="fbbf24"/>
                  </a:solidFill>
                  <a:effectLst/>
                  <a:uFillTx/>
                  <a:latin typeface="Times New Roman"/>
                  <a:ea typeface="Times New Roman"/>
                </a:rPr>
                <a:t>Thank You for Your Time and Attention!</a:t>
              </a:r>
              <a:endParaRPr b="0" lang="en-US" sz="16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3" name="TextBox 55"/>
            <p:cNvSpPr/>
            <p:nvPr/>
          </p:nvSpPr>
          <p:spPr>
            <a:xfrm>
              <a:off x="1089360" y="5442480"/>
              <a:ext cx="8069400" cy="23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200" strike="noStrike" u="none">
                  <a:solidFill>
                    <a:srgbClr val="e2e8f0"/>
                  </a:solidFill>
                  <a:effectLst/>
                  <a:uFillTx/>
                  <a:latin typeface="Times New Roman"/>
                  <a:ea typeface="Times New Roman"/>
                </a:rPr>
                <a:t>This concludes the graduation thesis presentation report for the Modern Full-Stack Restaurant Management System.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4" name="TextBox 56"/>
            <p:cNvSpPr/>
            <p:nvPr/>
          </p:nvSpPr>
          <p:spPr>
            <a:xfrm>
              <a:off x="1089720" y="5707800"/>
              <a:ext cx="472176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120" strike="noStrike" u="none">
                  <a:solidFill>
                    <a:srgbClr val="94a3b8"/>
                  </a:solidFill>
                  <a:effectLst/>
                  <a:uFillTx/>
                  <a:latin typeface="Times New Roman"/>
                  <a:ea typeface="Times New Roman"/>
                </a:rPr>
                <a:t>The floor is now open for questions, evaluation, and committee feedback.</a:t>
              </a:r>
              <a:endParaRPr b="0" lang="en-US" sz="11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15" name="footer"/>
          <p:cNvGrpSpPr/>
          <p:nvPr/>
        </p:nvGrpSpPr>
        <p:grpSpPr>
          <a:xfrm>
            <a:off x="757080" y="6238800"/>
            <a:ext cx="10677600" cy="342360"/>
            <a:chOff x="757080" y="6238800"/>
            <a:chExt cx="10677600" cy="342360"/>
          </a:xfrm>
        </p:grpSpPr>
        <p:sp>
          <p:nvSpPr>
            <p:cNvPr id="916" name="Line 58"/>
            <p:cNvSpPr/>
            <p:nvPr/>
          </p:nvSpPr>
          <p:spPr>
            <a:xfrm>
              <a:off x="762120" y="6238800"/>
              <a:ext cx="10667520" cy="9000"/>
            </a:xfrm>
            <a:custGeom>
              <a:avLst/>
              <a:gdLst>
                <a:gd name="textAreaLeft" fmla="*/ 0 w 10667520"/>
                <a:gd name="textAreaRight" fmla="*/ 10667880 w 10667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7" name="TextBox 59"/>
            <p:cNvSpPr/>
            <p:nvPr/>
          </p:nvSpPr>
          <p:spPr>
            <a:xfrm>
              <a:off x="757080" y="6390720"/>
              <a:ext cx="413856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Graduation Thesis Defense: Full-Stack Restaurant Management System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8" name="TextBox 60"/>
            <p:cNvSpPr/>
            <p:nvPr/>
          </p:nvSpPr>
          <p:spPr>
            <a:xfrm>
              <a:off x="10686240" y="6390720"/>
              <a:ext cx="748440" cy="19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b="0" lang="en-US" sz="980" strike="noStrike" u="none">
                  <a:solidFill>
                    <a:srgbClr val="64748b"/>
                  </a:solidFill>
                  <a:effectLst/>
                  <a:uFillTx/>
                  <a:latin typeface="Times New Roman"/>
                  <a:ea typeface="Times New Roman"/>
                </a:rPr>
                <a:t>Slide 20 / 20</a:t>
              </a:r>
              <a:endParaRPr b="0" lang="en-US" sz="9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esis_presentation">
  <a:themeElements>
    <a:clrScheme name="thesis_presentation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sis_presentation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2026-09-23T08:03:04Z</dcterms:created>
  <dc:creator/>
  <dc:description/>
  <dc:language>en-US</dc:language>
  <cp:lastModifiedBy/>
  <dcterms:modified xsi:type="dcterms:W3CDTF">2026-09-23T15:11:48Z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20</vt:i4>
  </property>
</Properties>
</file>